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1" r:id="rId3"/>
    <p:sldId id="258" r:id="rId4"/>
    <p:sldId id="257" r:id="rId5"/>
    <p:sldId id="259" r:id="rId6"/>
    <p:sldId id="260"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8" r:id="rId23"/>
    <p:sldId id="279" r:id="rId24"/>
    <p:sldId id="281" r:id="rId25"/>
    <p:sldId id="282" r:id="rId26"/>
    <p:sldId id="283" r:id="rId27"/>
    <p:sldId id="277"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8" d="100"/>
          <a:sy n="68" d="100"/>
        </p:scale>
        <p:origin x="61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B1F7214-641B-499C-B57A-B409A55B9352}" type="datetimeFigureOut">
              <a:rPr lang="en-US" smtClean="0"/>
              <a:t>5/10/2023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180760-877C-4BA1-910A-16F4F5AF2F0D}" type="slidenum">
              <a:rPr lang="en-US" smtClean="0"/>
              <a:t>‹#›</a:t>
            </a:fld>
            <a:endParaRPr lang="en-US"/>
          </a:p>
        </p:txBody>
      </p:sp>
    </p:spTree>
    <p:extLst>
      <p:ext uri="{BB962C8B-B14F-4D97-AF65-F5344CB8AC3E}">
        <p14:creationId xmlns:p14="http://schemas.microsoft.com/office/powerpoint/2010/main" val="4647219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B1F7214-641B-499C-B57A-B409A55B9352}" type="datetimeFigureOut">
              <a:rPr lang="en-US" smtClean="0"/>
              <a:t>5/10/2023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180760-877C-4BA1-910A-16F4F5AF2F0D}" type="slidenum">
              <a:rPr lang="en-US" smtClean="0"/>
              <a:t>‹#›</a:t>
            </a:fld>
            <a:endParaRPr lang="en-US"/>
          </a:p>
        </p:txBody>
      </p:sp>
    </p:spTree>
    <p:extLst>
      <p:ext uri="{BB962C8B-B14F-4D97-AF65-F5344CB8AC3E}">
        <p14:creationId xmlns:p14="http://schemas.microsoft.com/office/powerpoint/2010/main" val="25251096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B1F7214-641B-499C-B57A-B409A55B9352}" type="datetimeFigureOut">
              <a:rPr lang="en-US" smtClean="0"/>
              <a:t>5/10/2023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180760-877C-4BA1-910A-16F4F5AF2F0D}" type="slidenum">
              <a:rPr lang="en-US" smtClean="0"/>
              <a:t>‹#›</a:t>
            </a:fld>
            <a:endParaRPr lang="en-US"/>
          </a:p>
        </p:txBody>
      </p:sp>
    </p:spTree>
    <p:extLst>
      <p:ext uri="{BB962C8B-B14F-4D97-AF65-F5344CB8AC3E}">
        <p14:creationId xmlns:p14="http://schemas.microsoft.com/office/powerpoint/2010/main" val="2746432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B1F7214-641B-499C-B57A-B409A55B9352}" type="datetimeFigureOut">
              <a:rPr lang="en-US" smtClean="0"/>
              <a:t>5/10/2023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180760-877C-4BA1-910A-16F4F5AF2F0D}" type="slidenum">
              <a:rPr lang="en-US" smtClean="0"/>
              <a:t>‹#›</a:t>
            </a:fld>
            <a:endParaRPr lang="en-US"/>
          </a:p>
        </p:txBody>
      </p:sp>
    </p:spTree>
    <p:extLst>
      <p:ext uri="{BB962C8B-B14F-4D97-AF65-F5344CB8AC3E}">
        <p14:creationId xmlns:p14="http://schemas.microsoft.com/office/powerpoint/2010/main" val="8358052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B1F7214-641B-499C-B57A-B409A55B9352}" type="datetimeFigureOut">
              <a:rPr lang="en-US" smtClean="0"/>
              <a:t>5/10/2023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B180760-877C-4BA1-910A-16F4F5AF2F0D}" type="slidenum">
              <a:rPr lang="en-US" smtClean="0"/>
              <a:t>‹#›</a:t>
            </a:fld>
            <a:endParaRPr lang="en-US"/>
          </a:p>
        </p:txBody>
      </p:sp>
    </p:spTree>
    <p:extLst>
      <p:ext uri="{BB962C8B-B14F-4D97-AF65-F5344CB8AC3E}">
        <p14:creationId xmlns:p14="http://schemas.microsoft.com/office/powerpoint/2010/main" val="42056715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B1F7214-641B-499C-B57A-B409A55B9352}" type="datetimeFigureOut">
              <a:rPr lang="en-US" smtClean="0"/>
              <a:t>5/10/2023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B180760-877C-4BA1-910A-16F4F5AF2F0D}" type="slidenum">
              <a:rPr lang="en-US" smtClean="0"/>
              <a:t>‹#›</a:t>
            </a:fld>
            <a:endParaRPr lang="en-US"/>
          </a:p>
        </p:txBody>
      </p:sp>
    </p:spTree>
    <p:extLst>
      <p:ext uri="{BB962C8B-B14F-4D97-AF65-F5344CB8AC3E}">
        <p14:creationId xmlns:p14="http://schemas.microsoft.com/office/powerpoint/2010/main" val="2723949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1F7214-641B-499C-B57A-B409A55B9352}" type="datetimeFigureOut">
              <a:rPr lang="en-US" smtClean="0"/>
              <a:t>5/10/2023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B180760-877C-4BA1-910A-16F4F5AF2F0D}" type="slidenum">
              <a:rPr lang="en-US" smtClean="0"/>
              <a:t>‹#›</a:t>
            </a:fld>
            <a:endParaRPr lang="en-US"/>
          </a:p>
        </p:txBody>
      </p:sp>
    </p:spTree>
    <p:extLst>
      <p:ext uri="{BB962C8B-B14F-4D97-AF65-F5344CB8AC3E}">
        <p14:creationId xmlns:p14="http://schemas.microsoft.com/office/powerpoint/2010/main" val="4115698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B1F7214-641B-499C-B57A-B409A55B9352}" type="datetimeFigureOut">
              <a:rPr lang="en-US" smtClean="0"/>
              <a:t>5/10/2023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180760-877C-4BA1-910A-16F4F5AF2F0D}" type="slidenum">
              <a:rPr lang="en-US" smtClean="0"/>
              <a:t>‹#›</a:t>
            </a:fld>
            <a:endParaRPr lang="en-US"/>
          </a:p>
        </p:txBody>
      </p:sp>
    </p:spTree>
    <p:extLst>
      <p:ext uri="{BB962C8B-B14F-4D97-AF65-F5344CB8AC3E}">
        <p14:creationId xmlns:p14="http://schemas.microsoft.com/office/powerpoint/2010/main" val="26615338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B1F7214-641B-499C-B57A-B409A55B9352}" type="datetimeFigureOut">
              <a:rPr lang="en-US" smtClean="0"/>
              <a:t>5/10/2023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180760-877C-4BA1-910A-16F4F5AF2F0D}" type="slidenum">
              <a:rPr lang="en-US" smtClean="0"/>
              <a:t>‹#›</a:t>
            </a:fld>
            <a:endParaRPr lang="en-US"/>
          </a:p>
        </p:txBody>
      </p:sp>
    </p:spTree>
    <p:extLst>
      <p:ext uri="{BB962C8B-B14F-4D97-AF65-F5344CB8AC3E}">
        <p14:creationId xmlns:p14="http://schemas.microsoft.com/office/powerpoint/2010/main" val="33359425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B1F7214-641B-499C-B57A-B409A55B9352}" type="datetimeFigureOut">
              <a:rPr lang="en-US" smtClean="0"/>
              <a:t>5/10/2023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180760-877C-4BA1-910A-16F4F5AF2F0D}" type="slidenum">
              <a:rPr lang="en-US" smtClean="0"/>
              <a:t>‹#›</a:t>
            </a:fld>
            <a:endParaRPr lang="en-US"/>
          </a:p>
        </p:txBody>
      </p:sp>
    </p:spTree>
    <p:extLst>
      <p:ext uri="{BB962C8B-B14F-4D97-AF65-F5344CB8AC3E}">
        <p14:creationId xmlns:p14="http://schemas.microsoft.com/office/powerpoint/2010/main" val="40413398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B1F7214-641B-499C-B57A-B409A55B9352}" type="datetimeFigureOut">
              <a:rPr lang="en-US" smtClean="0"/>
              <a:t>5/10/2023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180760-877C-4BA1-910A-16F4F5AF2F0D}" type="slidenum">
              <a:rPr lang="en-US" smtClean="0"/>
              <a:t>‹#›</a:t>
            </a:fld>
            <a:endParaRPr lang="en-US"/>
          </a:p>
        </p:txBody>
      </p:sp>
    </p:spTree>
    <p:extLst>
      <p:ext uri="{BB962C8B-B14F-4D97-AF65-F5344CB8AC3E}">
        <p14:creationId xmlns:p14="http://schemas.microsoft.com/office/powerpoint/2010/main" val="8364110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1F7214-641B-499C-B57A-B409A55B9352}" type="datetimeFigureOut">
              <a:rPr lang="en-US" smtClean="0"/>
              <a:t>5/10/2023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180760-877C-4BA1-910A-16F4F5AF2F0D}" type="slidenum">
              <a:rPr lang="en-US" smtClean="0"/>
              <a:t>‹#›</a:t>
            </a:fld>
            <a:endParaRPr lang="en-US"/>
          </a:p>
        </p:txBody>
      </p:sp>
    </p:spTree>
    <p:extLst>
      <p:ext uri="{BB962C8B-B14F-4D97-AF65-F5344CB8AC3E}">
        <p14:creationId xmlns:p14="http://schemas.microsoft.com/office/powerpoint/2010/main" val="20607827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Unit 10</a:t>
            </a:r>
            <a:br>
              <a:rPr lang="en-US" b="1" dirty="0" smtClean="0"/>
            </a:br>
            <a:r>
              <a:rPr lang="en-US" b="1" dirty="0" smtClean="0"/>
              <a:t>Socio Technical System</a:t>
            </a:r>
            <a:endParaRPr lang="en-US" b="1" dirty="0"/>
          </a:p>
        </p:txBody>
      </p:sp>
      <p:sp>
        <p:nvSpPr>
          <p:cNvPr id="3" name="Subtitle 2"/>
          <p:cNvSpPr>
            <a:spLocks noGrp="1"/>
          </p:cNvSpPr>
          <p:nvPr>
            <p:ph type="subTitle" idx="1"/>
          </p:nvPr>
        </p:nvSpPr>
        <p:spPr/>
        <p:txBody>
          <a:bodyPr/>
          <a:lstStyle/>
          <a:p>
            <a:r>
              <a:rPr lang="en-US" dirty="0" smtClean="0"/>
              <a:t>Prepared by: Sachita </a:t>
            </a:r>
            <a:r>
              <a:rPr lang="en-US" dirty="0" err="1" smtClean="0"/>
              <a:t>Maharjan</a:t>
            </a:r>
            <a:endParaRPr lang="en-US" dirty="0"/>
          </a:p>
        </p:txBody>
      </p:sp>
    </p:spTree>
    <p:extLst>
      <p:ext uri="{BB962C8B-B14F-4D97-AF65-F5344CB8AC3E}">
        <p14:creationId xmlns:p14="http://schemas.microsoft.com/office/powerpoint/2010/main" val="424603792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1. Complex </a:t>
            </a:r>
            <a:r>
              <a:rPr lang="en-US" b="1" dirty="0" smtClean="0"/>
              <a:t>systems</a:t>
            </a:r>
            <a:endParaRPr lang="en-US" b="1" dirty="0"/>
          </a:p>
        </p:txBody>
      </p:sp>
      <p:sp>
        <p:nvSpPr>
          <p:cNvPr id="3" name="Content Placeholder 2"/>
          <p:cNvSpPr>
            <a:spLocks noGrp="1"/>
          </p:cNvSpPr>
          <p:nvPr>
            <p:ph idx="1"/>
          </p:nvPr>
        </p:nvSpPr>
        <p:spPr/>
        <p:txBody>
          <a:bodyPr/>
          <a:lstStyle/>
          <a:p>
            <a:pPr algn="just"/>
            <a:r>
              <a:rPr lang="en-US" dirty="0" smtClean="0"/>
              <a:t>A system is a purposeful collection of inter-related components working together to achieve some common objective </a:t>
            </a:r>
          </a:p>
          <a:p>
            <a:pPr algn="just"/>
            <a:r>
              <a:rPr lang="en-US" dirty="0" smtClean="0"/>
              <a:t>A system may include software, mechanical, electrical and electronic hardware and be operated by people </a:t>
            </a:r>
          </a:p>
          <a:p>
            <a:pPr algn="just"/>
            <a:r>
              <a:rPr lang="en-US" dirty="0" smtClean="0"/>
              <a:t>System components are dependent on other system components </a:t>
            </a:r>
          </a:p>
          <a:p>
            <a:pPr algn="just"/>
            <a:r>
              <a:rPr lang="en-US" dirty="0" smtClean="0"/>
              <a:t>The properties and behavior of system components are inter-mingled; this leads to complexity</a:t>
            </a:r>
            <a:endParaRPr lang="en-US" dirty="0"/>
          </a:p>
        </p:txBody>
      </p:sp>
    </p:spTree>
    <p:extLst>
      <p:ext uri="{BB962C8B-B14F-4D97-AF65-F5344CB8AC3E}">
        <p14:creationId xmlns:p14="http://schemas.microsoft.com/office/powerpoint/2010/main" val="123287900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1.1 The </a:t>
            </a:r>
            <a:r>
              <a:rPr lang="en-US" b="1" dirty="0" smtClean="0"/>
              <a:t>sociotechnical systems stack</a:t>
            </a:r>
            <a:endParaRPr lang="en-US" b="1" dirty="0"/>
          </a:p>
        </p:txBody>
      </p:sp>
      <p:pic>
        <p:nvPicPr>
          <p:cNvPr id="4" name="Content Placeholder 3"/>
          <p:cNvPicPr>
            <a:picLocks noGrp="1" noChangeAspect="1"/>
          </p:cNvPicPr>
          <p:nvPr>
            <p:ph idx="1"/>
          </p:nvPr>
        </p:nvPicPr>
        <p:blipFill>
          <a:blip r:embed="rId2"/>
          <a:stretch>
            <a:fillRect/>
          </a:stretch>
        </p:blipFill>
        <p:spPr>
          <a:xfrm>
            <a:off x="1714036" y="1690688"/>
            <a:ext cx="8424575" cy="4403272"/>
          </a:xfrm>
          <a:prstGeom prst="rect">
            <a:avLst/>
          </a:prstGeom>
        </p:spPr>
      </p:pic>
    </p:spTree>
    <p:extLst>
      <p:ext uri="{BB962C8B-B14F-4D97-AF65-F5344CB8AC3E}">
        <p14:creationId xmlns:p14="http://schemas.microsoft.com/office/powerpoint/2010/main" val="250786464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Systems</a:t>
            </a:r>
            <a:endParaRPr lang="en-US" b="1" dirty="0"/>
          </a:p>
        </p:txBody>
      </p:sp>
      <p:sp>
        <p:nvSpPr>
          <p:cNvPr id="3" name="Content Placeholder 2"/>
          <p:cNvSpPr>
            <a:spLocks noGrp="1"/>
          </p:cNvSpPr>
          <p:nvPr>
            <p:ph idx="1"/>
          </p:nvPr>
        </p:nvSpPr>
        <p:spPr/>
        <p:txBody>
          <a:bodyPr>
            <a:normAutofit lnSpcReduction="10000"/>
          </a:bodyPr>
          <a:lstStyle/>
          <a:p>
            <a:pPr algn="just"/>
            <a:r>
              <a:rPr lang="en-US" dirty="0" smtClean="0"/>
              <a:t>Software engineering is not an isolated activity but is part of a broader systems engineering process </a:t>
            </a:r>
          </a:p>
          <a:p>
            <a:pPr algn="just"/>
            <a:r>
              <a:rPr lang="en-US" dirty="0" smtClean="0"/>
              <a:t>Software systems are therefore not isolated systems but are essential components of broader systems that have a human, social or organizational purpose </a:t>
            </a:r>
          </a:p>
          <a:p>
            <a:pPr marL="0" indent="0" algn="just">
              <a:buNone/>
            </a:pPr>
            <a:r>
              <a:rPr lang="en-US" dirty="0" smtClean="0"/>
              <a:t>Example</a:t>
            </a:r>
          </a:p>
          <a:p>
            <a:pPr marL="0" indent="0" algn="just">
              <a:buNone/>
            </a:pPr>
            <a:r>
              <a:rPr lang="en-US" dirty="0" smtClean="0"/>
              <a:t>▪ Wilderness weather system is part of broader weather recording and forecasting systems </a:t>
            </a:r>
          </a:p>
          <a:p>
            <a:pPr marL="0" indent="0" algn="just">
              <a:buNone/>
            </a:pPr>
            <a:r>
              <a:rPr lang="en-US" dirty="0" smtClean="0"/>
              <a:t>▪ These include hardware and software, forecasting processes, system users, the organizations that depend on weather forecasts, etc.</a:t>
            </a:r>
            <a:endParaRPr lang="en-US" dirty="0"/>
          </a:p>
        </p:txBody>
      </p:sp>
    </p:spTree>
    <p:extLst>
      <p:ext uri="{BB962C8B-B14F-4D97-AF65-F5344CB8AC3E}">
        <p14:creationId xmlns:p14="http://schemas.microsoft.com/office/powerpoint/2010/main" val="128528096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1.1 Layers </a:t>
            </a:r>
            <a:r>
              <a:rPr lang="en-US" b="1" dirty="0" smtClean="0"/>
              <a:t>in the STS stack</a:t>
            </a:r>
            <a:endParaRPr lang="en-US" b="1" dirty="0"/>
          </a:p>
        </p:txBody>
      </p:sp>
      <p:sp>
        <p:nvSpPr>
          <p:cNvPr id="3" name="Content Placeholder 2"/>
          <p:cNvSpPr>
            <a:spLocks noGrp="1"/>
          </p:cNvSpPr>
          <p:nvPr>
            <p:ph idx="1"/>
          </p:nvPr>
        </p:nvSpPr>
        <p:spPr>
          <a:xfrm>
            <a:off x="838200" y="1825624"/>
            <a:ext cx="11081084" cy="4815807"/>
          </a:xfrm>
        </p:spPr>
        <p:txBody>
          <a:bodyPr>
            <a:normAutofit fontScale="92500" lnSpcReduction="20000"/>
          </a:bodyPr>
          <a:lstStyle/>
          <a:p>
            <a:pPr algn="just"/>
            <a:r>
              <a:rPr lang="en-US" b="1" dirty="0" smtClean="0"/>
              <a:t>Equipment: </a:t>
            </a:r>
            <a:r>
              <a:rPr lang="en-US" dirty="0" smtClean="0"/>
              <a:t>Hardware devices, some of which may be computers. Most devices will include an embedded system of some kind. </a:t>
            </a:r>
          </a:p>
          <a:p>
            <a:pPr algn="just"/>
            <a:r>
              <a:rPr lang="en-US" b="1" dirty="0" smtClean="0"/>
              <a:t>Operating system</a:t>
            </a:r>
            <a:r>
              <a:rPr lang="en-US" dirty="0" smtClean="0"/>
              <a:t>: Provides a set of common facilities for higher levels in the system </a:t>
            </a:r>
          </a:p>
          <a:p>
            <a:pPr algn="just"/>
            <a:r>
              <a:rPr lang="en-US" b="1" dirty="0" smtClean="0"/>
              <a:t>Communications and data management</a:t>
            </a:r>
            <a:r>
              <a:rPr lang="en-US" dirty="0" smtClean="0"/>
              <a:t>: Middleware that provides access to remote systems and databases </a:t>
            </a:r>
          </a:p>
          <a:p>
            <a:pPr algn="just"/>
            <a:r>
              <a:rPr lang="en-US" b="1" dirty="0" smtClean="0"/>
              <a:t>Application system</a:t>
            </a:r>
            <a:r>
              <a:rPr lang="en-US" dirty="0" smtClean="0"/>
              <a:t>: Specific functionality to meet some organization requirements</a:t>
            </a:r>
          </a:p>
          <a:p>
            <a:pPr algn="just"/>
            <a:r>
              <a:rPr lang="en-US" b="1" dirty="0" smtClean="0"/>
              <a:t>Business processes</a:t>
            </a:r>
            <a:r>
              <a:rPr lang="en-US" dirty="0" smtClean="0"/>
              <a:t>: A set of processes involving people and computer systems that support the activities of the business </a:t>
            </a:r>
          </a:p>
          <a:p>
            <a:pPr algn="just"/>
            <a:r>
              <a:rPr lang="en-US" b="1" dirty="0" smtClean="0"/>
              <a:t>Organizations</a:t>
            </a:r>
            <a:r>
              <a:rPr lang="en-US" dirty="0" smtClean="0"/>
              <a:t>: Higher level strategic business activities that affect the operation of the system </a:t>
            </a:r>
          </a:p>
          <a:p>
            <a:pPr algn="just"/>
            <a:r>
              <a:rPr lang="en-US" b="1" dirty="0" smtClean="0"/>
              <a:t>Society</a:t>
            </a:r>
            <a:r>
              <a:rPr lang="en-US" dirty="0" smtClean="0"/>
              <a:t>: Laws, regulation and culture that affect the operation of the system</a:t>
            </a:r>
            <a:endParaRPr lang="en-US" dirty="0"/>
          </a:p>
        </p:txBody>
      </p:sp>
    </p:spTree>
    <p:extLst>
      <p:ext uri="{BB962C8B-B14F-4D97-AF65-F5344CB8AC3E}">
        <p14:creationId xmlns:p14="http://schemas.microsoft.com/office/powerpoint/2010/main" val="416951319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1.2 Socio-technical </a:t>
            </a:r>
            <a:r>
              <a:rPr lang="en-US" b="1" dirty="0" smtClean="0"/>
              <a:t>system characteristics</a:t>
            </a:r>
            <a:endParaRPr lang="en-US" b="1" dirty="0"/>
          </a:p>
        </p:txBody>
      </p:sp>
      <p:sp>
        <p:nvSpPr>
          <p:cNvPr id="3" name="Content Placeholder 2"/>
          <p:cNvSpPr>
            <a:spLocks noGrp="1"/>
          </p:cNvSpPr>
          <p:nvPr>
            <p:ph idx="1"/>
          </p:nvPr>
        </p:nvSpPr>
        <p:spPr/>
        <p:txBody>
          <a:bodyPr>
            <a:normAutofit fontScale="92500" lnSpcReduction="10000"/>
          </a:bodyPr>
          <a:lstStyle/>
          <a:p>
            <a:pPr algn="just"/>
            <a:r>
              <a:rPr lang="en-US" b="1" dirty="0" smtClean="0"/>
              <a:t>Emergent properties: </a:t>
            </a:r>
            <a:r>
              <a:rPr lang="en-US" dirty="0" smtClean="0"/>
              <a:t>Properties of the system of a whole that depend on the system components and their relationships </a:t>
            </a:r>
          </a:p>
          <a:p>
            <a:pPr marL="0" indent="0" algn="just">
              <a:buNone/>
            </a:pPr>
            <a:r>
              <a:rPr lang="en-US" sz="2300" b="1" dirty="0" smtClean="0"/>
              <a:t>Types of emergent property</a:t>
            </a:r>
          </a:p>
          <a:p>
            <a:pPr algn="just"/>
            <a:r>
              <a:rPr lang="en-US" sz="2300" b="1" dirty="0" smtClean="0"/>
              <a:t>Functional emergent properties: </a:t>
            </a:r>
            <a:r>
              <a:rPr lang="en-US" sz="2300" dirty="0" smtClean="0"/>
              <a:t>These appear when all the parts of a system work together to achieve some objective. For example, a bicycle has the functional property of being a transportation device once it has been assembled from its components.</a:t>
            </a:r>
          </a:p>
          <a:p>
            <a:pPr algn="just"/>
            <a:r>
              <a:rPr lang="en-US" sz="2300" b="1" dirty="0" smtClean="0"/>
              <a:t>Non-functional emergent properties: </a:t>
            </a:r>
            <a:r>
              <a:rPr lang="en-US" sz="2300" dirty="0" smtClean="0"/>
              <a:t>Examples are reliability, performance, safety, and security. These relate to the behavior of the system in its operational environment. They are often critical for computer-based systems as failure to achieve some minimal defined level in these properties may make the system unusable</a:t>
            </a:r>
          </a:p>
          <a:p>
            <a:pPr algn="just"/>
            <a:r>
              <a:rPr lang="en-US" b="1" dirty="0" smtClean="0"/>
              <a:t>Non-deterministic: </a:t>
            </a:r>
            <a:r>
              <a:rPr lang="en-US" dirty="0" smtClean="0"/>
              <a:t>They do not always produce the same output when presented with the same input because the system’s behavior is partially dependent on human operators</a:t>
            </a:r>
          </a:p>
          <a:p>
            <a:pPr algn="just"/>
            <a:endParaRPr lang="en-US" dirty="0"/>
          </a:p>
        </p:txBody>
      </p:sp>
    </p:spTree>
    <p:extLst>
      <p:ext uri="{BB962C8B-B14F-4D97-AF65-F5344CB8AC3E}">
        <p14:creationId xmlns:p14="http://schemas.microsoft.com/office/powerpoint/2010/main" val="333532197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1.3 Failure </a:t>
            </a:r>
            <a:r>
              <a:rPr lang="en-US" b="1" dirty="0" smtClean="0"/>
              <a:t>Propagation</a:t>
            </a:r>
            <a:endParaRPr lang="en-US" b="1" dirty="0"/>
          </a:p>
        </p:txBody>
      </p:sp>
      <p:sp>
        <p:nvSpPr>
          <p:cNvPr id="3" name="Content Placeholder 2"/>
          <p:cNvSpPr>
            <a:spLocks noGrp="1"/>
          </p:cNvSpPr>
          <p:nvPr>
            <p:ph idx="1"/>
          </p:nvPr>
        </p:nvSpPr>
        <p:spPr/>
        <p:txBody>
          <a:bodyPr/>
          <a:lstStyle/>
          <a:p>
            <a:pPr algn="just"/>
            <a:r>
              <a:rPr lang="en-US" dirty="0"/>
              <a:t>Failure propagation refers to the process by which a failure in one part of a system can lead to subsequent failures or problems in other parts of the system. </a:t>
            </a:r>
            <a:endParaRPr lang="en-US" dirty="0" smtClean="0"/>
          </a:p>
          <a:p>
            <a:pPr algn="just"/>
            <a:r>
              <a:rPr lang="en-US" dirty="0" smtClean="0"/>
              <a:t>When </a:t>
            </a:r>
            <a:r>
              <a:rPr lang="en-US" dirty="0"/>
              <a:t>a system is designed, engineers typically try to anticipate potential points of failure and build in redundancies or fail-safe mechanisms to prevent or mitigate these failures. </a:t>
            </a:r>
            <a:endParaRPr lang="en-US" dirty="0" smtClean="0"/>
          </a:p>
          <a:p>
            <a:pPr algn="just"/>
            <a:r>
              <a:rPr lang="en-US" dirty="0" smtClean="0"/>
              <a:t>However</a:t>
            </a:r>
            <a:r>
              <a:rPr lang="en-US" dirty="0"/>
              <a:t>, despite these efforts, failures can still occur and can sometimes lead to a cascade of problems that can be difficult to contain or resolve.</a:t>
            </a:r>
          </a:p>
        </p:txBody>
      </p:sp>
    </p:spTree>
    <p:extLst>
      <p:ext uri="{BB962C8B-B14F-4D97-AF65-F5344CB8AC3E}">
        <p14:creationId xmlns:p14="http://schemas.microsoft.com/office/powerpoint/2010/main" val="90668194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Failure Propagation</a:t>
            </a:r>
            <a:endParaRPr lang="en-US" b="1" dirty="0"/>
          </a:p>
        </p:txBody>
      </p:sp>
      <p:pic>
        <p:nvPicPr>
          <p:cNvPr id="4" name="Content Placeholder 3"/>
          <p:cNvPicPr>
            <a:picLocks noGrp="1" noChangeAspect="1"/>
          </p:cNvPicPr>
          <p:nvPr>
            <p:ph idx="1"/>
          </p:nvPr>
        </p:nvPicPr>
        <p:blipFill>
          <a:blip r:embed="rId2"/>
          <a:stretch>
            <a:fillRect/>
          </a:stretch>
        </p:blipFill>
        <p:spPr>
          <a:xfrm>
            <a:off x="3049525" y="2019841"/>
            <a:ext cx="6575738" cy="4483848"/>
          </a:xfrm>
          <a:prstGeom prst="rect">
            <a:avLst/>
          </a:prstGeom>
        </p:spPr>
      </p:pic>
    </p:spTree>
    <p:extLst>
      <p:ext uri="{BB962C8B-B14F-4D97-AF65-F5344CB8AC3E}">
        <p14:creationId xmlns:p14="http://schemas.microsoft.com/office/powerpoint/2010/main" val="307505183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Example:</a:t>
            </a:r>
            <a:endParaRPr lang="en-US" b="1" dirty="0"/>
          </a:p>
        </p:txBody>
      </p:sp>
      <p:sp>
        <p:nvSpPr>
          <p:cNvPr id="3" name="Content Placeholder 2"/>
          <p:cNvSpPr>
            <a:spLocks noGrp="1"/>
          </p:cNvSpPr>
          <p:nvPr>
            <p:ph idx="1"/>
          </p:nvPr>
        </p:nvSpPr>
        <p:spPr>
          <a:xfrm>
            <a:off x="725077" y="1486259"/>
            <a:ext cx="11129211" cy="5032375"/>
          </a:xfrm>
        </p:spPr>
        <p:txBody>
          <a:bodyPr>
            <a:normAutofit fontScale="92500" lnSpcReduction="10000"/>
          </a:bodyPr>
          <a:lstStyle/>
          <a:p>
            <a:pPr algn="just"/>
            <a:r>
              <a:rPr lang="en-US" dirty="0"/>
              <a:t>Another example of failure propagation can be found in software systems. When a bug or security vulnerability is discovered in a software program, attackers can exploit this vulnerability to gain unauthorized access to the system or cause it to malfunction</a:t>
            </a:r>
            <a:r>
              <a:rPr lang="en-US" dirty="0" smtClean="0"/>
              <a:t>.</a:t>
            </a:r>
          </a:p>
          <a:p>
            <a:pPr algn="just"/>
            <a:r>
              <a:rPr lang="en-US" dirty="0" smtClean="0"/>
              <a:t> </a:t>
            </a:r>
            <a:r>
              <a:rPr lang="en-US" dirty="0"/>
              <a:t>In some cases, the failure can spread to other parts of the system or even to other systems that are connected to it, leading to a chain reaction of problems that can be difficult to control.</a:t>
            </a:r>
          </a:p>
          <a:p>
            <a:pPr algn="just"/>
            <a:r>
              <a:rPr lang="en-US" dirty="0"/>
              <a:t>To prevent failure propagation, engineers and system designers need to consider the potential points of failure in a system and build in redundancies, fail-safe mechanisms, and other safeguards to prevent problems from cascading out of control. </a:t>
            </a:r>
            <a:endParaRPr lang="en-US" dirty="0" smtClean="0"/>
          </a:p>
          <a:p>
            <a:pPr algn="just"/>
            <a:r>
              <a:rPr lang="en-US" dirty="0" smtClean="0"/>
              <a:t>They </a:t>
            </a:r>
            <a:r>
              <a:rPr lang="en-US" dirty="0"/>
              <a:t>also need to have a plan in place to quickly identify and respond to failures when they occur, and to limit the potential impact of those failures on other parts of the system.</a:t>
            </a:r>
          </a:p>
        </p:txBody>
      </p:sp>
    </p:spTree>
    <p:extLst>
      <p:ext uri="{BB962C8B-B14F-4D97-AF65-F5344CB8AC3E}">
        <p14:creationId xmlns:p14="http://schemas.microsoft.com/office/powerpoint/2010/main" val="74628273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2. Systems </a:t>
            </a:r>
            <a:r>
              <a:rPr lang="en-US" b="1" dirty="0" smtClean="0"/>
              <a:t>engineering </a:t>
            </a:r>
            <a:endParaRPr lang="en-US" b="1" dirty="0"/>
          </a:p>
        </p:txBody>
      </p:sp>
      <p:sp>
        <p:nvSpPr>
          <p:cNvPr id="3" name="Content Placeholder 2"/>
          <p:cNvSpPr>
            <a:spLocks noGrp="1"/>
          </p:cNvSpPr>
          <p:nvPr>
            <p:ph idx="1"/>
          </p:nvPr>
        </p:nvSpPr>
        <p:spPr/>
        <p:txBody>
          <a:bodyPr/>
          <a:lstStyle/>
          <a:p>
            <a:pPr algn="just"/>
            <a:r>
              <a:rPr lang="en-US" dirty="0" smtClean="0"/>
              <a:t>Procuring, specifying, designing, implementing, validating, deploying and maintaining socio-technical systems. </a:t>
            </a:r>
          </a:p>
          <a:p>
            <a:pPr algn="just"/>
            <a:r>
              <a:rPr lang="en-US" dirty="0" smtClean="0"/>
              <a:t>Concerned with the services provided by the system, constraints on its construction and operation and the ways in which it is used to fulfill its purpose or purposes</a:t>
            </a:r>
            <a:endParaRPr lang="en-US" dirty="0"/>
          </a:p>
        </p:txBody>
      </p:sp>
    </p:spTree>
    <p:extLst>
      <p:ext uri="{BB962C8B-B14F-4D97-AF65-F5344CB8AC3E}">
        <p14:creationId xmlns:p14="http://schemas.microsoft.com/office/powerpoint/2010/main" val="245012144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2.1 Stages </a:t>
            </a:r>
            <a:r>
              <a:rPr lang="en-US" b="1" dirty="0" smtClean="0"/>
              <a:t>of systems engineering</a:t>
            </a:r>
            <a:endParaRPr lang="en-US" b="1" dirty="0"/>
          </a:p>
        </p:txBody>
      </p:sp>
      <p:pic>
        <p:nvPicPr>
          <p:cNvPr id="4" name="Content Placeholder 3"/>
          <p:cNvPicPr>
            <a:picLocks noGrp="1" noChangeAspect="1"/>
          </p:cNvPicPr>
          <p:nvPr>
            <p:ph idx="1"/>
          </p:nvPr>
        </p:nvPicPr>
        <p:blipFill>
          <a:blip r:embed="rId2"/>
          <a:stretch>
            <a:fillRect/>
          </a:stretch>
        </p:blipFill>
        <p:spPr>
          <a:xfrm>
            <a:off x="2550722" y="1876823"/>
            <a:ext cx="7668099" cy="4202164"/>
          </a:xfrm>
          <a:prstGeom prst="rect">
            <a:avLst/>
          </a:prstGeom>
        </p:spPr>
      </p:pic>
    </p:spTree>
    <p:extLst>
      <p:ext uri="{BB962C8B-B14F-4D97-AF65-F5344CB8AC3E}">
        <p14:creationId xmlns:p14="http://schemas.microsoft.com/office/powerpoint/2010/main" val="348889286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2.2 Professional </a:t>
            </a:r>
            <a:r>
              <a:rPr lang="en-US" b="1" dirty="0" smtClean="0"/>
              <a:t>disciplines involved in systems engineering </a:t>
            </a:r>
            <a:endParaRPr lang="en-US" b="1" dirty="0"/>
          </a:p>
        </p:txBody>
      </p:sp>
      <p:pic>
        <p:nvPicPr>
          <p:cNvPr id="4" name="Content Placeholder 3"/>
          <p:cNvPicPr>
            <a:picLocks noGrp="1" noChangeAspect="1"/>
          </p:cNvPicPr>
          <p:nvPr>
            <p:ph idx="1"/>
          </p:nvPr>
        </p:nvPicPr>
        <p:blipFill>
          <a:blip r:embed="rId2"/>
          <a:stretch>
            <a:fillRect/>
          </a:stretch>
        </p:blipFill>
        <p:spPr>
          <a:xfrm>
            <a:off x="2456972" y="1938815"/>
            <a:ext cx="7278056" cy="4002432"/>
          </a:xfrm>
          <a:prstGeom prst="rect">
            <a:avLst/>
          </a:prstGeom>
        </p:spPr>
      </p:pic>
    </p:spTree>
    <p:extLst>
      <p:ext uri="{BB962C8B-B14F-4D97-AF65-F5344CB8AC3E}">
        <p14:creationId xmlns:p14="http://schemas.microsoft.com/office/powerpoint/2010/main" val="12300398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Question</a:t>
            </a:r>
            <a:endParaRPr lang="en-US" b="1" dirty="0"/>
          </a:p>
        </p:txBody>
      </p:sp>
      <p:sp>
        <p:nvSpPr>
          <p:cNvPr id="3" name="Content Placeholder 2"/>
          <p:cNvSpPr>
            <a:spLocks noGrp="1"/>
          </p:cNvSpPr>
          <p:nvPr>
            <p:ph idx="1"/>
          </p:nvPr>
        </p:nvSpPr>
        <p:spPr/>
        <p:txBody>
          <a:bodyPr/>
          <a:lstStyle/>
          <a:p>
            <a:r>
              <a:rPr lang="en-US" dirty="0" smtClean="0"/>
              <a:t>What is Complex System? Explain Socio technical system stack with proper examples</a:t>
            </a:r>
          </a:p>
          <a:p>
            <a:r>
              <a:rPr lang="en-US" dirty="0" smtClean="0"/>
              <a:t>What is System Engineering? Explain stages of system engineering.</a:t>
            </a:r>
          </a:p>
          <a:p>
            <a:endParaRPr lang="en-US" dirty="0"/>
          </a:p>
        </p:txBody>
      </p:sp>
    </p:spTree>
    <p:extLst>
      <p:ext uri="{BB962C8B-B14F-4D97-AF65-F5344CB8AC3E}">
        <p14:creationId xmlns:p14="http://schemas.microsoft.com/office/powerpoint/2010/main" val="147387214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3. System </a:t>
            </a:r>
            <a:r>
              <a:rPr lang="en-US" b="1" dirty="0" smtClean="0"/>
              <a:t>procurement</a:t>
            </a:r>
            <a:endParaRPr lang="en-US" b="1" dirty="0"/>
          </a:p>
        </p:txBody>
      </p:sp>
      <p:sp>
        <p:nvSpPr>
          <p:cNvPr id="3" name="Content Placeholder 2"/>
          <p:cNvSpPr>
            <a:spLocks noGrp="1"/>
          </p:cNvSpPr>
          <p:nvPr>
            <p:ph idx="1"/>
          </p:nvPr>
        </p:nvSpPr>
        <p:spPr/>
        <p:txBody>
          <a:bodyPr/>
          <a:lstStyle/>
          <a:p>
            <a:pPr algn="just"/>
            <a:r>
              <a:rPr lang="en-US" dirty="0"/>
              <a:t>Acquiring a system (or systems) to meet some identified organizational need. </a:t>
            </a:r>
            <a:endParaRPr lang="en-US" dirty="0" smtClean="0"/>
          </a:p>
          <a:p>
            <a:pPr algn="just"/>
            <a:r>
              <a:rPr lang="en-US" dirty="0" smtClean="0"/>
              <a:t>Before </a:t>
            </a:r>
            <a:r>
              <a:rPr lang="en-US" dirty="0"/>
              <a:t>procurement, decisions are made on</a:t>
            </a:r>
            <a:r>
              <a:rPr lang="en-US" dirty="0" smtClean="0"/>
              <a:t>:</a:t>
            </a:r>
          </a:p>
          <a:p>
            <a:pPr marL="0" indent="0" algn="just">
              <a:buNone/>
            </a:pPr>
            <a:r>
              <a:rPr lang="en-US" dirty="0" smtClean="0"/>
              <a:t> </a:t>
            </a:r>
            <a:r>
              <a:rPr lang="en-US" dirty="0"/>
              <a:t>▪Scope of the </a:t>
            </a:r>
            <a:r>
              <a:rPr lang="en-US" dirty="0" smtClean="0"/>
              <a:t>system</a:t>
            </a:r>
          </a:p>
          <a:p>
            <a:pPr marL="0" indent="0" algn="just">
              <a:buNone/>
            </a:pPr>
            <a:r>
              <a:rPr lang="en-US" dirty="0" smtClean="0"/>
              <a:t> </a:t>
            </a:r>
            <a:r>
              <a:rPr lang="en-US" dirty="0"/>
              <a:t>▪System budgets and timescales </a:t>
            </a:r>
            <a:endParaRPr lang="en-US" dirty="0" smtClean="0"/>
          </a:p>
          <a:p>
            <a:pPr marL="0" indent="0" algn="just">
              <a:buNone/>
            </a:pPr>
            <a:r>
              <a:rPr lang="en-US" dirty="0" smtClean="0"/>
              <a:t> ▪</a:t>
            </a:r>
            <a:r>
              <a:rPr lang="en-US" dirty="0"/>
              <a:t>High-level system </a:t>
            </a:r>
            <a:r>
              <a:rPr lang="en-US" dirty="0" smtClean="0"/>
              <a:t>requirements</a:t>
            </a:r>
          </a:p>
          <a:p>
            <a:pPr algn="just"/>
            <a:r>
              <a:rPr lang="en-US" dirty="0" smtClean="0"/>
              <a:t> Based </a:t>
            </a:r>
            <a:r>
              <a:rPr lang="en-US" dirty="0"/>
              <a:t>on this information, decisions are made on whether to procure a system, the type of system and the potential system suppliers </a:t>
            </a:r>
          </a:p>
        </p:txBody>
      </p:sp>
    </p:spTree>
    <p:extLst>
      <p:ext uri="{BB962C8B-B14F-4D97-AF65-F5344CB8AC3E}">
        <p14:creationId xmlns:p14="http://schemas.microsoft.com/office/powerpoint/2010/main" val="27084057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3.1 Decision </a:t>
            </a:r>
            <a:r>
              <a:rPr lang="en-US" b="1" dirty="0" smtClean="0"/>
              <a:t>drivers for procurement</a:t>
            </a:r>
            <a:endParaRPr lang="en-US" b="1" dirty="0"/>
          </a:p>
        </p:txBody>
      </p:sp>
      <p:sp>
        <p:nvSpPr>
          <p:cNvPr id="3" name="Content Placeholder 2"/>
          <p:cNvSpPr>
            <a:spLocks noGrp="1"/>
          </p:cNvSpPr>
          <p:nvPr>
            <p:ph idx="1"/>
          </p:nvPr>
        </p:nvSpPr>
        <p:spPr/>
        <p:txBody>
          <a:bodyPr/>
          <a:lstStyle/>
          <a:p>
            <a:r>
              <a:rPr lang="en-US" dirty="0"/>
              <a:t>The state of other organizational systems </a:t>
            </a:r>
            <a:endParaRPr lang="en-US" dirty="0" smtClean="0"/>
          </a:p>
          <a:p>
            <a:r>
              <a:rPr lang="en-US" dirty="0" smtClean="0"/>
              <a:t>The </a:t>
            </a:r>
            <a:r>
              <a:rPr lang="en-US" dirty="0"/>
              <a:t>need to comply(follow) with external regulations </a:t>
            </a:r>
            <a:endParaRPr lang="en-US" dirty="0" smtClean="0"/>
          </a:p>
          <a:p>
            <a:r>
              <a:rPr lang="en-US" dirty="0" smtClean="0"/>
              <a:t>External competition</a:t>
            </a:r>
          </a:p>
          <a:p>
            <a:r>
              <a:rPr lang="en-US" dirty="0" smtClean="0"/>
              <a:t> Business re-organization</a:t>
            </a:r>
          </a:p>
          <a:p>
            <a:r>
              <a:rPr lang="en-US" dirty="0" smtClean="0"/>
              <a:t> Available </a:t>
            </a:r>
            <a:r>
              <a:rPr lang="en-US" dirty="0"/>
              <a:t>budge</a:t>
            </a:r>
          </a:p>
        </p:txBody>
      </p:sp>
    </p:spTree>
    <p:extLst>
      <p:ext uri="{BB962C8B-B14F-4D97-AF65-F5344CB8AC3E}">
        <p14:creationId xmlns:p14="http://schemas.microsoft.com/office/powerpoint/2010/main" val="9832888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27418"/>
            <a:ext cx="10515600" cy="1325563"/>
          </a:xfrm>
        </p:spPr>
        <p:txBody>
          <a:bodyPr/>
          <a:lstStyle/>
          <a:p>
            <a:r>
              <a:rPr lang="en-US" b="1" dirty="0" smtClean="0"/>
              <a:t>3.2 Procurement </a:t>
            </a:r>
            <a:r>
              <a:rPr lang="en-US" b="1" dirty="0"/>
              <a:t>and development</a:t>
            </a:r>
          </a:p>
        </p:txBody>
      </p:sp>
      <p:sp>
        <p:nvSpPr>
          <p:cNvPr id="3" name="Content Placeholder 2"/>
          <p:cNvSpPr>
            <a:spLocks noGrp="1"/>
          </p:cNvSpPr>
          <p:nvPr>
            <p:ph idx="1"/>
          </p:nvPr>
        </p:nvSpPr>
        <p:spPr/>
        <p:txBody>
          <a:bodyPr/>
          <a:lstStyle/>
          <a:p>
            <a:pPr algn="just"/>
            <a:r>
              <a:rPr lang="en-US" dirty="0" smtClean="0"/>
              <a:t>Some </a:t>
            </a:r>
            <a:r>
              <a:rPr lang="en-US" dirty="0"/>
              <a:t>system specification and architectural design is usually necessary before </a:t>
            </a:r>
            <a:r>
              <a:rPr lang="en-US" dirty="0" smtClean="0"/>
              <a:t>procurement</a:t>
            </a:r>
          </a:p>
          <a:p>
            <a:pPr marL="0" indent="0" algn="just">
              <a:buNone/>
            </a:pPr>
            <a:r>
              <a:rPr lang="en-US" dirty="0" smtClean="0"/>
              <a:t>    ▪</a:t>
            </a:r>
            <a:r>
              <a:rPr lang="en-US" dirty="0"/>
              <a:t>You need a specification to let a contract for system development </a:t>
            </a:r>
            <a:endParaRPr lang="en-US" dirty="0" smtClean="0"/>
          </a:p>
          <a:p>
            <a:pPr marL="0" indent="0" algn="just">
              <a:buNone/>
            </a:pPr>
            <a:r>
              <a:rPr lang="en-US" dirty="0" smtClean="0"/>
              <a:t>    ▪</a:t>
            </a:r>
            <a:r>
              <a:rPr lang="en-US" dirty="0"/>
              <a:t>The specification may allow you to buy a commercial off-the-shelf </a:t>
            </a:r>
            <a:r>
              <a:rPr lang="en-US" dirty="0" smtClean="0"/>
              <a:t>       (</a:t>
            </a:r>
            <a:r>
              <a:rPr lang="en-US" dirty="0"/>
              <a:t>COTS) system. Almost always cheaper than developing a system from </a:t>
            </a:r>
            <a:r>
              <a:rPr lang="en-US" dirty="0" smtClean="0"/>
              <a:t> scratch </a:t>
            </a:r>
          </a:p>
          <a:p>
            <a:pPr algn="just"/>
            <a:r>
              <a:rPr lang="en-US" dirty="0" smtClean="0"/>
              <a:t>Large </a:t>
            </a:r>
            <a:r>
              <a:rPr lang="en-US" dirty="0"/>
              <a:t>complex systems usually consist of a mix of off the shelf and specially designed components. The procurement processes for these different types of component are usually different</a:t>
            </a:r>
          </a:p>
        </p:txBody>
      </p:sp>
    </p:spTree>
    <p:extLst>
      <p:ext uri="{BB962C8B-B14F-4D97-AF65-F5344CB8AC3E}">
        <p14:creationId xmlns:p14="http://schemas.microsoft.com/office/powerpoint/2010/main" val="1591082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3.3 System </a:t>
            </a:r>
            <a:r>
              <a:rPr lang="en-US" b="1" dirty="0"/>
              <a:t>procurement processes</a:t>
            </a:r>
          </a:p>
        </p:txBody>
      </p:sp>
      <p:pic>
        <p:nvPicPr>
          <p:cNvPr id="4" name="Content Placeholder 3"/>
          <p:cNvPicPr>
            <a:picLocks noGrp="1" noChangeAspect="1"/>
          </p:cNvPicPr>
          <p:nvPr>
            <p:ph idx="1"/>
          </p:nvPr>
        </p:nvPicPr>
        <p:blipFill>
          <a:blip r:embed="rId2"/>
          <a:stretch>
            <a:fillRect/>
          </a:stretch>
        </p:blipFill>
        <p:spPr>
          <a:xfrm>
            <a:off x="1324059" y="1982919"/>
            <a:ext cx="9543881" cy="4342467"/>
          </a:xfrm>
          <a:prstGeom prst="rect">
            <a:avLst/>
          </a:prstGeom>
        </p:spPr>
      </p:pic>
    </p:spTree>
    <p:extLst>
      <p:ext uri="{BB962C8B-B14F-4D97-AF65-F5344CB8AC3E}">
        <p14:creationId xmlns:p14="http://schemas.microsoft.com/office/powerpoint/2010/main" val="13156845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4. System </a:t>
            </a:r>
            <a:r>
              <a:rPr lang="en-US" b="1" dirty="0"/>
              <a:t>development</a:t>
            </a:r>
          </a:p>
        </p:txBody>
      </p:sp>
      <p:sp>
        <p:nvSpPr>
          <p:cNvPr id="3" name="Content Placeholder 2"/>
          <p:cNvSpPr>
            <a:spLocks noGrp="1"/>
          </p:cNvSpPr>
          <p:nvPr>
            <p:ph idx="1"/>
          </p:nvPr>
        </p:nvSpPr>
        <p:spPr/>
        <p:txBody>
          <a:bodyPr/>
          <a:lstStyle/>
          <a:p>
            <a:pPr algn="just"/>
            <a:r>
              <a:rPr lang="en-US" dirty="0" smtClean="0"/>
              <a:t>System </a:t>
            </a:r>
            <a:r>
              <a:rPr lang="en-US" dirty="0"/>
              <a:t>development in system engineering refers to the process of designing, implementing, testing, and maintaining complex systems to meet specific requirements. </a:t>
            </a:r>
            <a:endParaRPr lang="en-US" dirty="0" smtClean="0"/>
          </a:p>
          <a:p>
            <a:pPr algn="just"/>
            <a:r>
              <a:rPr lang="en-US" dirty="0" smtClean="0"/>
              <a:t>It </a:t>
            </a:r>
            <a:r>
              <a:rPr lang="en-US" dirty="0"/>
              <a:t>involves a range of activities, including requirements analysis, system design, software development, testing, and deployment</a:t>
            </a:r>
            <a:r>
              <a:rPr lang="en-US" dirty="0" smtClean="0"/>
              <a:t>.</a:t>
            </a:r>
          </a:p>
          <a:p>
            <a:pPr algn="just"/>
            <a:r>
              <a:rPr lang="en-US" dirty="0"/>
              <a:t>Throughout the system development process, system engineers use various tools and techniques to manage complexity and ensure that the system is delivered on time and within budget. These may include project management tools, software development frameworks, and testing tools.</a:t>
            </a:r>
            <a:endParaRPr lang="en-US" dirty="0"/>
          </a:p>
        </p:txBody>
      </p:sp>
    </p:spTree>
    <p:extLst>
      <p:ext uri="{BB962C8B-B14F-4D97-AF65-F5344CB8AC3E}">
        <p14:creationId xmlns:p14="http://schemas.microsoft.com/office/powerpoint/2010/main" val="29930365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4.1 System Development</a:t>
            </a:r>
            <a:endParaRPr lang="en-US" b="1" dirty="0"/>
          </a:p>
        </p:txBody>
      </p:sp>
      <p:pic>
        <p:nvPicPr>
          <p:cNvPr id="4" name="Content Placeholder 3"/>
          <p:cNvPicPr>
            <a:picLocks noGrp="1" noChangeAspect="1"/>
          </p:cNvPicPr>
          <p:nvPr>
            <p:ph idx="1"/>
          </p:nvPr>
        </p:nvPicPr>
        <p:blipFill>
          <a:blip r:embed="rId2"/>
          <a:stretch>
            <a:fillRect/>
          </a:stretch>
        </p:blipFill>
        <p:spPr>
          <a:xfrm>
            <a:off x="2149086" y="2262157"/>
            <a:ext cx="8871635" cy="3808704"/>
          </a:xfrm>
          <a:prstGeom prst="rect">
            <a:avLst/>
          </a:prstGeom>
        </p:spPr>
      </p:pic>
    </p:spTree>
    <p:extLst>
      <p:ext uri="{BB962C8B-B14F-4D97-AF65-F5344CB8AC3E}">
        <p14:creationId xmlns:p14="http://schemas.microsoft.com/office/powerpoint/2010/main" val="14881255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5. System Operation</a:t>
            </a:r>
            <a:endParaRPr lang="en-US" b="1" dirty="0"/>
          </a:p>
        </p:txBody>
      </p:sp>
      <p:sp>
        <p:nvSpPr>
          <p:cNvPr id="3" name="Content Placeholder 2"/>
          <p:cNvSpPr>
            <a:spLocks noGrp="1"/>
          </p:cNvSpPr>
          <p:nvPr>
            <p:ph idx="1"/>
          </p:nvPr>
        </p:nvSpPr>
        <p:spPr/>
        <p:txBody>
          <a:bodyPr/>
          <a:lstStyle/>
          <a:p>
            <a:pPr algn="just"/>
            <a:r>
              <a:rPr lang="en-US" dirty="0"/>
              <a:t>System operation in system engineering refers to the ongoing maintenance, support, and management of a system after it has been deployed. </a:t>
            </a:r>
            <a:endParaRPr lang="en-US" dirty="0" smtClean="0"/>
          </a:p>
          <a:p>
            <a:pPr algn="just"/>
            <a:r>
              <a:rPr lang="en-US" dirty="0" smtClean="0"/>
              <a:t>This </a:t>
            </a:r>
            <a:r>
              <a:rPr lang="en-US" dirty="0"/>
              <a:t>phase of the system life cycle is critical to ensuring that the system continues to function properly, meets user needs, and remains secure and reliable.</a:t>
            </a:r>
          </a:p>
          <a:p>
            <a:pPr algn="just"/>
            <a:r>
              <a:rPr lang="en-US" dirty="0"/>
              <a:t>During the system operation phase, system engineers may perform a range of activities, including:</a:t>
            </a:r>
          </a:p>
        </p:txBody>
      </p:sp>
    </p:spTree>
    <p:extLst>
      <p:ext uri="{BB962C8B-B14F-4D97-AF65-F5344CB8AC3E}">
        <p14:creationId xmlns:p14="http://schemas.microsoft.com/office/powerpoint/2010/main" val="41258270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5.1 System Operation</a:t>
            </a:r>
            <a:endParaRPr lang="en-US" b="1" dirty="0"/>
          </a:p>
        </p:txBody>
      </p:sp>
      <p:sp>
        <p:nvSpPr>
          <p:cNvPr id="3" name="Content Placeholder 2"/>
          <p:cNvSpPr>
            <a:spLocks noGrp="1"/>
          </p:cNvSpPr>
          <p:nvPr>
            <p:ph idx="1"/>
          </p:nvPr>
        </p:nvSpPr>
        <p:spPr/>
        <p:txBody>
          <a:bodyPr>
            <a:normAutofit fontScale="77500" lnSpcReduction="20000"/>
          </a:bodyPr>
          <a:lstStyle/>
          <a:p>
            <a:pPr algn="just"/>
            <a:r>
              <a:rPr lang="en-US" dirty="0"/>
              <a:t>Monitoring the system: This involves tracking the system's performance, capacity, and availability to ensure that it is meeting the needs of its users. Engineers may use monitoring tools to track system metrics and identify potential issues before they become critical.</a:t>
            </a:r>
          </a:p>
          <a:p>
            <a:pPr algn="just"/>
            <a:r>
              <a:rPr lang="en-US" dirty="0"/>
              <a:t>Maintaining the system: This involves performing routine maintenance tasks, such as installing updates, patches, and bug fixes, and addressing hardware or software issues as they arise.</a:t>
            </a:r>
          </a:p>
          <a:p>
            <a:pPr algn="just"/>
            <a:r>
              <a:rPr lang="en-US" dirty="0"/>
              <a:t>Providing support to users: This involves responding to user requests for help, troubleshooting issues, and providing guidance on how to use the system effectively.</a:t>
            </a:r>
          </a:p>
          <a:p>
            <a:pPr algn="just"/>
            <a:r>
              <a:rPr lang="en-US" dirty="0"/>
              <a:t>Managing system security: This involves implementing and maintaining security controls, such as firewalls, intrusion detection systems, and access controls, to protect the system from unauthorized access, data breaches, and other security threats.</a:t>
            </a:r>
          </a:p>
          <a:p>
            <a:pPr algn="just"/>
            <a:r>
              <a:rPr lang="en-US" dirty="0"/>
              <a:t>Planning for system upgrades and migrations: This involves planning for and executing system upgrades, migrations, or retirements as the system's needs change over time.</a:t>
            </a:r>
          </a:p>
        </p:txBody>
      </p:sp>
    </p:spTree>
    <p:extLst>
      <p:ext uri="{BB962C8B-B14F-4D97-AF65-F5344CB8AC3E}">
        <p14:creationId xmlns:p14="http://schemas.microsoft.com/office/powerpoint/2010/main" val="8138483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5.2 Software </a:t>
            </a:r>
            <a:r>
              <a:rPr lang="en-US" b="1" dirty="0" smtClean="0"/>
              <a:t>Configuration Management</a:t>
            </a:r>
            <a:endParaRPr lang="en-US" b="1" dirty="0"/>
          </a:p>
        </p:txBody>
      </p:sp>
      <p:sp>
        <p:nvSpPr>
          <p:cNvPr id="3" name="Content Placeholder 2"/>
          <p:cNvSpPr>
            <a:spLocks noGrp="1"/>
          </p:cNvSpPr>
          <p:nvPr>
            <p:ph idx="1"/>
          </p:nvPr>
        </p:nvSpPr>
        <p:spPr/>
        <p:txBody>
          <a:bodyPr>
            <a:normAutofit lnSpcReduction="10000"/>
          </a:bodyPr>
          <a:lstStyle/>
          <a:p>
            <a:r>
              <a:rPr lang="en-US" dirty="0" smtClean="0"/>
              <a:t>In </a:t>
            </a:r>
            <a:r>
              <a:rPr lang="en-US" dirty="0"/>
              <a:t>Software Engineering, </a:t>
            </a:r>
            <a:r>
              <a:rPr lang="en-US" b="1" dirty="0"/>
              <a:t>Software Configuration Management(SCM)</a:t>
            </a:r>
            <a:r>
              <a:rPr lang="en-US" dirty="0"/>
              <a:t> is a process to systematically manage, organize, and control the changes in the documents, codes, and other entities during the Software Development Life Cycle. The primary goal is to increase productivity with minimal mistakes. </a:t>
            </a:r>
            <a:endParaRPr lang="en-US" dirty="0" smtClean="0"/>
          </a:p>
          <a:p>
            <a:pPr algn="just"/>
            <a:r>
              <a:rPr lang="en-US" dirty="0" smtClean="0"/>
              <a:t>SCM </a:t>
            </a:r>
            <a:r>
              <a:rPr lang="en-US" dirty="0"/>
              <a:t>is part of cross-disciplinary field of configuration management and it can accurately determine who made which revision</a:t>
            </a:r>
            <a:r>
              <a:rPr lang="en-US" dirty="0" smtClean="0"/>
              <a:t>.</a:t>
            </a:r>
          </a:p>
          <a:p>
            <a:pPr algn="just"/>
            <a:r>
              <a:rPr lang="en-US" dirty="0" smtClean="0"/>
              <a:t>Configuration </a:t>
            </a:r>
            <a:r>
              <a:rPr lang="en-US" dirty="0"/>
              <a:t>management (CM) is a systems engineering process for establishing and maintaining consistency of a product's performance, functional, and physical attributes with its requirements, design, and operational information throughout its life.</a:t>
            </a:r>
          </a:p>
          <a:p>
            <a:pPr marL="0" indent="0" algn="just">
              <a:buNone/>
            </a:pPr>
            <a:endParaRPr lang="en-US" dirty="0"/>
          </a:p>
        </p:txBody>
      </p:sp>
      <p:sp>
        <p:nvSpPr>
          <p:cNvPr id="4" name="TextBox 3"/>
          <p:cNvSpPr txBox="1"/>
          <p:nvPr/>
        </p:nvSpPr>
        <p:spPr>
          <a:xfrm>
            <a:off x="1062182" y="6202508"/>
            <a:ext cx="9347200" cy="369332"/>
          </a:xfrm>
          <a:prstGeom prst="rect">
            <a:avLst/>
          </a:prstGeom>
          <a:noFill/>
        </p:spPr>
        <p:txBody>
          <a:bodyPr wrap="square" rtlCol="0">
            <a:spAutoFit/>
          </a:bodyPr>
          <a:lstStyle/>
          <a:p>
            <a:r>
              <a:rPr lang="en-US" dirty="0" smtClean="0"/>
              <a:t>For more info. : https</a:t>
            </a:r>
            <a:r>
              <a:rPr lang="en-US" dirty="0"/>
              <a:t>://www.guru99.com/software-configuration-management-tutorial.html</a:t>
            </a:r>
          </a:p>
        </p:txBody>
      </p:sp>
    </p:spTree>
    <p:extLst>
      <p:ext uri="{BB962C8B-B14F-4D97-AF65-F5344CB8AC3E}">
        <p14:creationId xmlns:p14="http://schemas.microsoft.com/office/powerpoint/2010/main" val="27875901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5.2 Software </a:t>
            </a:r>
            <a:r>
              <a:rPr lang="en-US" b="1" dirty="0"/>
              <a:t>Configuration </a:t>
            </a:r>
            <a:r>
              <a:rPr lang="en-US" b="1" dirty="0" smtClean="0"/>
              <a:t>Management Tools</a:t>
            </a:r>
            <a:endParaRPr lang="en-US" b="1" dirty="0"/>
          </a:p>
        </p:txBody>
      </p:sp>
      <p:pic>
        <p:nvPicPr>
          <p:cNvPr id="1026" name="Picture 2" descr="Top 8 Configuration Management Tools for Sys Admin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603213" y="3296876"/>
            <a:ext cx="4985573" cy="356112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050636" y="1526265"/>
            <a:ext cx="9767455" cy="1477328"/>
          </a:xfrm>
          <a:prstGeom prst="rect">
            <a:avLst/>
          </a:prstGeom>
          <a:noFill/>
        </p:spPr>
        <p:txBody>
          <a:bodyPr wrap="square" rtlCol="0">
            <a:spAutoFit/>
          </a:bodyPr>
          <a:lstStyle/>
          <a:p>
            <a:pPr algn="just"/>
            <a:r>
              <a:rPr lang="en-US" dirty="0"/>
              <a:t>Most configuration management involves a high degree of automation to achieve these goals. This is why teams use different tools like Puppet, </a:t>
            </a:r>
            <a:r>
              <a:rPr lang="en-US" dirty="0" err="1"/>
              <a:t>Ansible</a:t>
            </a:r>
            <a:r>
              <a:rPr lang="en-US" dirty="0"/>
              <a:t>, Terraform and other configuration management tools. </a:t>
            </a:r>
          </a:p>
          <a:p>
            <a:pPr algn="just"/>
            <a:r>
              <a:rPr lang="en-US" dirty="0"/>
              <a:t>By using automation, it's easier to build in checks and redundancies, improving the potential for omissions due to human error and the accuracy for keeping assets in the desired state</a:t>
            </a:r>
          </a:p>
        </p:txBody>
      </p:sp>
    </p:spTree>
    <p:extLst>
      <p:ext uri="{BB962C8B-B14F-4D97-AF65-F5344CB8AC3E}">
        <p14:creationId xmlns:p14="http://schemas.microsoft.com/office/powerpoint/2010/main" val="27498544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5.3 ISO </a:t>
            </a:r>
            <a:r>
              <a:rPr lang="en-US" b="1" dirty="0" smtClean="0"/>
              <a:t>9001 </a:t>
            </a:r>
            <a:r>
              <a:rPr lang="en-US" b="1" dirty="0"/>
              <a:t>history and revisions: ISO </a:t>
            </a:r>
            <a:r>
              <a:rPr lang="en-US" b="1" dirty="0" smtClean="0"/>
              <a:t>9001:2000</a:t>
            </a:r>
            <a:r>
              <a:rPr lang="en-US" b="1" dirty="0"/>
              <a:t>, 2008, and 2015</a:t>
            </a:r>
          </a:p>
        </p:txBody>
      </p:sp>
      <p:sp>
        <p:nvSpPr>
          <p:cNvPr id="3" name="Content Placeholder 2"/>
          <p:cNvSpPr>
            <a:spLocks noGrp="1"/>
          </p:cNvSpPr>
          <p:nvPr>
            <p:ph idx="1"/>
          </p:nvPr>
        </p:nvSpPr>
        <p:spPr/>
        <p:txBody>
          <a:bodyPr/>
          <a:lstStyle/>
          <a:p>
            <a:pPr algn="just"/>
            <a:r>
              <a:rPr lang="en-US" dirty="0"/>
              <a:t>ISO </a:t>
            </a:r>
            <a:r>
              <a:rPr lang="en-US" dirty="0" smtClean="0"/>
              <a:t>9001 was </a:t>
            </a:r>
            <a:r>
              <a:rPr lang="en-US" dirty="0"/>
              <a:t>first published in 1987 by the International Organization for Standardization (ISO), a specialized international agency for standardization composed of the national standards bodies of more than 160 countries. The standards underwent revisions in 2000 and 2008. The most recent versions of the standard, ISO 9000:2015 and ISO 9001:2015, were published in September 2015.</a:t>
            </a:r>
          </a:p>
          <a:p>
            <a:pPr algn="just"/>
            <a:r>
              <a:rPr lang="en-US" dirty="0"/>
              <a:t>ASQ administers the U.S. Technical Advisory Groups and subcommittees that are responsible for developing the ISO </a:t>
            </a:r>
            <a:r>
              <a:rPr lang="en-US" dirty="0" smtClean="0"/>
              <a:t>9001 </a:t>
            </a:r>
            <a:r>
              <a:rPr lang="en-US" dirty="0"/>
              <a:t>family of standards. In its standards development work, ASQ is accredited by ANSI.</a:t>
            </a:r>
          </a:p>
        </p:txBody>
      </p:sp>
    </p:spTree>
    <p:extLst>
      <p:ext uri="{BB962C8B-B14F-4D97-AF65-F5344CB8AC3E}">
        <p14:creationId xmlns:p14="http://schemas.microsoft.com/office/powerpoint/2010/main" val="5951840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5.3 Types </a:t>
            </a:r>
            <a:r>
              <a:rPr lang="en-US" b="1" dirty="0" smtClean="0"/>
              <a:t>of ISO Certificate:</a:t>
            </a:r>
            <a:endParaRPr lang="en-US" b="1" dirty="0"/>
          </a:p>
        </p:txBody>
      </p:sp>
      <p:pic>
        <p:nvPicPr>
          <p:cNvPr id="2050" name="Picture 2" descr="Global Quality Certification | ISO Global Certification - Corpbiz"/>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20274" y="1825625"/>
            <a:ext cx="3151451"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02239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5.4 ISO </a:t>
            </a:r>
            <a:r>
              <a:rPr lang="en-US" b="1" dirty="0" smtClean="0"/>
              <a:t>9001:2015 </a:t>
            </a:r>
            <a:r>
              <a:rPr lang="en-US" b="1" dirty="0"/>
              <a:t>principles of Quality Management</a:t>
            </a:r>
          </a:p>
        </p:txBody>
      </p:sp>
      <p:sp>
        <p:nvSpPr>
          <p:cNvPr id="3" name="Content Placeholder 2"/>
          <p:cNvSpPr>
            <a:spLocks noGrp="1"/>
          </p:cNvSpPr>
          <p:nvPr>
            <p:ph idx="1"/>
          </p:nvPr>
        </p:nvSpPr>
        <p:spPr>
          <a:xfrm>
            <a:off x="838200" y="1797916"/>
            <a:ext cx="10515600" cy="4351338"/>
          </a:xfrm>
        </p:spPr>
        <p:txBody>
          <a:bodyPr/>
          <a:lstStyle/>
          <a:p>
            <a:r>
              <a:rPr lang="en-US" dirty="0"/>
              <a:t>The ISO 9000:2015 and ISO 9001:2015 standards are based on seven quality management principles that senior management can apply to promote organizational improvement</a:t>
            </a:r>
            <a:r>
              <a:rPr lang="en-US" dirty="0" smtClean="0"/>
              <a:t>.</a:t>
            </a:r>
          </a:p>
          <a:p>
            <a:endParaRPr lang="en-US" dirty="0"/>
          </a:p>
        </p:txBody>
      </p:sp>
      <p:pic>
        <p:nvPicPr>
          <p:cNvPr id="4" name="Picture 3"/>
          <p:cNvPicPr>
            <a:picLocks noChangeAspect="1"/>
          </p:cNvPicPr>
          <p:nvPr/>
        </p:nvPicPr>
        <p:blipFill>
          <a:blip r:embed="rId2"/>
          <a:stretch>
            <a:fillRect/>
          </a:stretch>
        </p:blipFill>
        <p:spPr>
          <a:xfrm>
            <a:off x="3968230" y="3184971"/>
            <a:ext cx="4626157" cy="3673029"/>
          </a:xfrm>
          <a:prstGeom prst="rect">
            <a:avLst/>
          </a:prstGeom>
        </p:spPr>
      </p:pic>
    </p:spTree>
    <p:extLst>
      <p:ext uri="{BB962C8B-B14F-4D97-AF65-F5344CB8AC3E}">
        <p14:creationId xmlns:p14="http://schemas.microsoft.com/office/powerpoint/2010/main" val="8831192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Question:</a:t>
            </a:r>
            <a:endParaRPr lang="en-US" b="1" dirty="0"/>
          </a:p>
        </p:txBody>
      </p:sp>
      <p:sp>
        <p:nvSpPr>
          <p:cNvPr id="3" name="Content Placeholder 2"/>
          <p:cNvSpPr>
            <a:spLocks noGrp="1"/>
          </p:cNvSpPr>
          <p:nvPr>
            <p:ph idx="1"/>
          </p:nvPr>
        </p:nvSpPr>
        <p:spPr/>
        <p:txBody>
          <a:bodyPr/>
          <a:lstStyle/>
          <a:p>
            <a:r>
              <a:rPr lang="en-US" dirty="0" smtClean="0"/>
              <a:t>What is System Engineering? What are the stages of System Engineering? Explain each stages with examples.</a:t>
            </a:r>
            <a:endParaRPr lang="en-US" dirty="0"/>
          </a:p>
        </p:txBody>
      </p:sp>
    </p:spTree>
    <p:extLst>
      <p:ext uri="{BB962C8B-B14F-4D97-AF65-F5344CB8AC3E}">
        <p14:creationId xmlns:p14="http://schemas.microsoft.com/office/powerpoint/2010/main" val="4104446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TotalTime>
  <Words>1412</Words>
  <Application>Microsoft Office PowerPoint</Application>
  <PresentationFormat>Widescreen</PresentationFormat>
  <Paragraphs>96</Paragraphs>
  <Slides>27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Calibri Light</vt:lpstr>
      <vt:lpstr>Office Theme</vt:lpstr>
      <vt:lpstr>Unit 10 Socio Technical System</vt:lpstr>
      <vt:lpstr>1. Complex systems</vt:lpstr>
      <vt:lpstr>1.1 The sociotechnical systems stack</vt:lpstr>
      <vt:lpstr>Systems</vt:lpstr>
      <vt:lpstr>1.1 Layers in the STS stack</vt:lpstr>
      <vt:lpstr>1.2 Socio-technical system characteristics</vt:lpstr>
      <vt:lpstr>1.3 Failure Propagation</vt:lpstr>
      <vt:lpstr>Failure Propagation</vt:lpstr>
      <vt:lpstr>Example:</vt:lpstr>
      <vt:lpstr>2. Systems engineering </vt:lpstr>
      <vt:lpstr>2.1 Stages of systems engineering</vt:lpstr>
      <vt:lpstr>2.2 Professional disciplines involved in systems engineering </vt:lpstr>
      <vt:lpstr>Question</vt:lpstr>
      <vt:lpstr>3. System procurement</vt:lpstr>
      <vt:lpstr>3.1 Decision drivers for procurement</vt:lpstr>
      <vt:lpstr>3.2 Procurement and development</vt:lpstr>
      <vt:lpstr>3.3 System procurement processes</vt:lpstr>
      <vt:lpstr>4. System development</vt:lpstr>
      <vt:lpstr>4.1 System Development</vt:lpstr>
      <vt:lpstr>5. System Operation</vt:lpstr>
      <vt:lpstr>5.1 System Operation</vt:lpstr>
      <vt:lpstr>5.2 Software Configuration Management</vt:lpstr>
      <vt:lpstr>5.2 Software Configuration Management Tools</vt:lpstr>
      <vt:lpstr>5.3 ISO 9001 history and revisions: ISO 9001:2000, 2008, and 2015</vt:lpstr>
      <vt:lpstr>5.3 Types of ISO Certificate:</vt:lpstr>
      <vt:lpstr>5.4 ISO 9001:2015 principles of Quality Management</vt:lpstr>
      <vt:lpstr>Question: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10 Socio Technical System</dc:title>
  <dc:creator>Hp</dc:creator>
  <cp:lastModifiedBy>Hp</cp:lastModifiedBy>
  <cp:revision>12</cp:revision>
  <dcterms:created xsi:type="dcterms:W3CDTF">2023-05-09T01:29:10Z</dcterms:created>
  <dcterms:modified xsi:type="dcterms:W3CDTF">2023-05-10T02:12:21Z</dcterms:modified>
</cp:coreProperties>
</file>