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60"/>
  </p:notesMasterIdLst>
  <p:sldIdLst>
    <p:sldId id="256" r:id="rId2"/>
    <p:sldId id="257" r:id="rId3"/>
    <p:sldId id="299" r:id="rId4"/>
    <p:sldId id="258" r:id="rId5"/>
    <p:sldId id="260" r:id="rId6"/>
    <p:sldId id="263" r:id="rId7"/>
    <p:sldId id="264" r:id="rId8"/>
    <p:sldId id="261" r:id="rId9"/>
    <p:sldId id="265" r:id="rId10"/>
    <p:sldId id="266" r:id="rId11"/>
    <p:sldId id="267" r:id="rId12"/>
    <p:sldId id="259"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1" r:id="rId26"/>
    <p:sldId id="282" r:id="rId27"/>
    <p:sldId id="287" r:id="rId28"/>
    <p:sldId id="288" r:id="rId29"/>
    <p:sldId id="313" r:id="rId30"/>
    <p:sldId id="289" r:id="rId31"/>
    <p:sldId id="290" r:id="rId32"/>
    <p:sldId id="291" r:id="rId33"/>
    <p:sldId id="292" r:id="rId34"/>
    <p:sldId id="293" r:id="rId35"/>
    <p:sldId id="294" r:id="rId36"/>
    <p:sldId id="295" r:id="rId37"/>
    <p:sldId id="296" r:id="rId38"/>
    <p:sldId id="314" r:id="rId39"/>
    <p:sldId id="315" r:id="rId40"/>
    <p:sldId id="300" r:id="rId41"/>
    <p:sldId id="301" r:id="rId42"/>
    <p:sldId id="302" r:id="rId43"/>
    <p:sldId id="320" r:id="rId44"/>
    <p:sldId id="303" r:id="rId45"/>
    <p:sldId id="297" r:id="rId46"/>
    <p:sldId id="304" r:id="rId47"/>
    <p:sldId id="305" r:id="rId48"/>
    <p:sldId id="306" r:id="rId49"/>
    <p:sldId id="307" r:id="rId50"/>
    <p:sldId id="308" r:id="rId51"/>
    <p:sldId id="316" r:id="rId52"/>
    <p:sldId id="317" r:id="rId53"/>
    <p:sldId id="318" r:id="rId54"/>
    <p:sldId id="309" r:id="rId55"/>
    <p:sldId id="310" r:id="rId56"/>
    <p:sldId id="311" r:id="rId57"/>
    <p:sldId id="319" r:id="rId58"/>
    <p:sldId id="298"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1CF43-AC23-449C-9970-2574E72FAE5D}" type="datetimeFigureOut">
              <a:rPr lang="en-US" smtClean="0"/>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2C457-EB94-446C-B827-529C14765A18}" type="slidenum">
              <a:rPr lang="en-US" smtClean="0"/>
              <a:t>‹#›</a:t>
            </a:fld>
            <a:endParaRPr lang="en-US"/>
          </a:p>
        </p:txBody>
      </p:sp>
    </p:spTree>
    <p:extLst>
      <p:ext uri="{BB962C8B-B14F-4D97-AF65-F5344CB8AC3E}">
        <p14:creationId xmlns:p14="http://schemas.microsoft.com/office/powerpoint/2010/main" val="245717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design refers to the conceptualization, planning, and development of structures or systems, ensuring functionality, aesthetics, and sustainability. </a:t>
            </a:r>
          </a:p>
          <a:p>
            <a:r>
              <a:rPr lang="en-US" dirty="0"/>
              <a:t>architecture design refers to the high-level structuring of a software system, focusing on how its components interact and align to meet the desired functionality, scalability, and maintainability.</a:t>
            </a:r>
          </a:p>
          <a:p>
            <a:r>
              <a:rPr lang="en-US" b="1" dirty="0"/>
              <a:t>Key Components</a:t>
            </a:r>
          </a:p>
          <a:p>
            <a:pPr>
              <a:buFont typeface="Arial" panose="020B0604020202020204" pitchFamily="34" charset="0"/>
              <a:buChar char="•"/>
            </a:pPr>
            <a:r>
              <a:rPr lang="en-US" b="1" dirty="0"/>
              <a:t>Architecture Patterns</a:t>
            </a:r>
            <a:r>
              <a:rPr lang="en-US" dirty="0"/>
              <a:t>: Commonly used designs like client-server, microservices, or monolithic architectures.</a:t>
            </a:r>
          </a:p>
          <a:p>
            <a:pPr>
              <a:buFont typeface="Arial" panose="020B0604020202020204" pitchFamily="34" charset="0"/>
              <a:buChar char="•"/>
            </a:pPr>
            <a:r>
              <a:rPr lang="en-US" b="1" dirty="0"/>
              <a:t>Modules</a:t>
            </a:r>
            <a:r>
              <a:rPr lang="en-US" dirty="0"/>
              <a:t>: Dividing the system into smaller, manageable units.</a:t>
            </a:r>
          </a:p>
          <a:p>
            <a:pPr>
              <a:buFont typeface="Arial" panose="020B0604020202020204" pitchFamily="34" charset="0"/>
              <a:buChar char="•"/>
            </a:pPr>
            <a:r>
              <a:rPr lang="en-US" b="1" dirty="0"/>
              <a:t>Components</a:t>
            </a:r>
            <a:r>
              <a:rPr lang="en-US" dirty="0"/>
              <a:t>: Individual units or functionalities within the system.</a:t>
            </a:r>
          </a:p>
          <a:p>
            <a:pPr>
              <a:buFont typeface="Arial" panose="020B0604020202020204" pitchFamily="34" charset="0"/>
              <a:buChar char="•"/>
            </a:pPr>
            <a:r>
              <a:rPr lang="en-US" b="1" dirty="0"/>
              <a:t>Interfaces</a:t>
            </a:r>
            <a:r>
              <a:rPr lang="en-US" dirty="0"/>
              <a:t>: How components interact with each other and external systems.</a:t>
            </a:r>
          </a:p>
          <a:p>
            <a:pPr>
              <a:buFont typeface="Arial" panose="020B0604020202020204" pitchFamily="34" charset="0"/>
              <a:buChar char="•"/>
            </a:pPr>
            <a:r>
              <a:rPr lang="en-US" b="1" dirty="0"/>
              <a:t>Data Flow</a:t>
            </a:r>
            <a:r>
              <a:rPr lang="en-US" dirty="0"/>
              <a:t>: How data moves through the system</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a:t>
            </a:fld>
            <a:endParaRPr lang="en-US"/>
          </a:p>
        </p:txBody>
      </p:sp>
    </p:spTree>
    <p:extLst>
      <p:ext uri="{BB962C8B-B14F-4D97-AF65-F5344CB8AC3E}">
        <p14:creationId xmlns:p14="http://schemas.microsoft.com/office/powerpoint/2010/main" val="828104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architecture diagram</a:t>
            </a:r>
          </a:p>
        </p:txBody>
      </p:sp>
      <p:sp>
        <p:nvSpPr>
          <p:cNvPr id="4" name="Slide Number Placeholder 3"/>
          <p:cNvSpPr>
            <a:spLocks noGrp="1"/>
          </p:cNvSpPr>
          <p:nvPr>
            <p:ph type="sldNum" sz="quarter" idx="5"/>
          </p:nvPr>
        </p:nvSpPr>
        <p:spPr/>
        <p:txBody>
          <a:bodyPr/>
          <a:lstStyle/>
          <a:p>
            <a:fld id="{9910BE80-B4E3-42FA-AA76-BDDCE087015A}" type="slidenum">
              <a:rPr lang="en-US" smtClean="0"/>
              <a:t>7</a:t>
            </a:fld>
            <a:endParaRPr lang="en-US"/>
          </a:p>
        </p:txBody>
      </p:sp>
    </p:spTree>
    <p:extLst>
      <p:ext uri="{BB962C8B-B14F-4D97-AF65-F5344CB8AC3E}">
        <p14:creationId xmlns:p14="http://schemas.microsoft.com/office/powerpoint/2010/main" val="1600572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Requirements and Objectives</a:t>
            </a:r>
          </a:p>
          <a:p>
            <a:pPr>
              <a:buFont typeface="Arial" panose="020B0604020202020204" pitchFamily="34" charset="0"/>
              <a:buChar char="•"/>
            </a:pPr>
            <a:r>
              <a:rPr lang="en-US" dirty="0"/>
              <a:t>What are the system's primary functional requirements?</a:t>
            </a:r>
          </a:p>
          <a:p>
            <a:pPr>
              <a:buFont typeface="Arial" panose="020B0604020202020204" pitchFamily="34" charset="0"/>
              <a:buChar char="•"/>
            </a:pPr>
            <a:r>
              <a:rPr lang="en-US" dirty="0"/>
              <a:t>What are the non-functional requirements (e.g., scalability, performance, security)?</a:t>
            </a:r>
          </a:p>
          <a:p>
            <a:pPr>
              <a:buFont typeface="Arial" panose="020B0604020202020204" pitchFamily="34" charset="0"/>
              <a:buChar char="•"/>
            </a:pPr>
            <a:r>
              <a:rPr lang="en-US" dirty="0"/>
              <a:t>What are the key business goals driving this design?</a:t>
            </a:r>
          </a:p>
          <a:p>
            <a:pPr>
              <a:buFont typeface="Arial" panose="020B0604020202020204" pitchFamily="34" charset="0"/>
              <a:buChar char="•"/>
            </a:pPr>
            <a:r>
              <a:rPr lang="en-US" dirty="0"/>
              <a:t>Are there any regulatory or compliance requirements to consider?</a:t>
            </a:r>
          </a:p>
          <a:p>
            <a:r>
              <a:rPr lang="en-US" b="1" dirty="0"/>
              <a:t>Technology and Tools</a:t>
            </a:r>
          </a:p>
          <a:p>
            <a:pPr>
              <a:buFont typeface="Arial" panose="020B0604020202020204" pitchFamily="34" charset="0"/>
              <a:buChar char="•"/>
            </a:pPr>
            <a:r>
              <a:rPr lang="en-US" dirty="0"/>
              <a:t>What technologies or frameworks best suit the project?</a:t>
            </a:r>
          </a:p>
          <a:p>
            <a:pPr>
              <a:buFont typeface="Arial" panose="020B0604020202020204" pitchFamily="34" charset="0"/>
              <a:buChar char="•"/>
            </a:pPr>
            <a:r>
              <a:rPr lang="en-US" dirty="0"/>
              <a:t>Are the chosen tools compatible with existing systems or infrastructure?</a:t>
            </a:r>
          </a:p>
          <a:p>
            <a:pPr>
              <a:buFont typeface="Arial" panose="020B0604020202020204" pitchFamily="34" charset="0"/>
              <a:buChar char="•"/>
            </a:pPr>
            <a:r>
              <a:rPr lang="en-US" dirty="0"/>
              <a:t>What are the trade-offs between open-source and proprietary solutions?</a:t>
            </a:r>
          </a:p>
          <a:p>
            <a:pPr>
              <a:buFont typeface="Arial" panose="020B0604020202020204" pitchFamily="34" charset="0"/>
              <a:buChar char="•"/>
            </a:pPr>
            <a:r>
              <a:rPr lang="en-US" dirty="0"/>
              <a:t>How do we ensure the system can adapt to future technological changes?</a:t>
            </a:r>
          </a:p>
          <a:p>
            <a:r>
              <a:rPr lang="en-US" b="1" dirty="0"/>
              <a:t>Scalability and Performance</a:t>
            </a:r>
          </a:p>
          <a:p>
            <a:pPr>
              <a:buFont typeface="Arial" panose="020B0604020202020204" pitchFamily="34" charset="0"/>
              <a:buChar char="•"/>
            </a:pPr>
            <a:r>
              <a:rPr lang="en-US" dirty="0"/>
              <a:t>Can the architecture handle expected growth in users or data?</a:t>
            </a:r>
          </a:p>
          <a:p>
            <a:pPr>
              <a:buFont typeface="Arial" panose="020B0604020202020204" pitchFamily="34" charset="0"/>
              <a:buChar char="•"/>
            </a:pPr>
            <a:r>
              <a:rPr lang="en-US" dirty="0"/>
              <a:t>What are the performance bottlenecks, and how can they be mitigated?</a:t>
            </a:r>
          </a:p>
          <a:p>
            <a:pPr>
              <a:buFont typeface="Arial" panose="020B0604020202020204" pitchFamily="34" charset="0"/>
              <a:buChar char="•"/>
            </a:pPr>
            <a:r>
              <a:rPr lang="en-US" dirty="0"/>
              <a:t>How will the system maintain performance under high load or stress?</a:t>
            </a:r>
          </a:p>
          <a:p>
            <a:pPr>
              <a:buFont typeface="Arial" panose="020B0604020202020204" pitchFamily="34" charset="0"/>
              <a:buChar char="•"/>
            </a:pPr>
            <a:r>
              <a:rPr lang="en-US" dirty="0"/>
              <a:t>Are caching or load-balancing mechanisms necessary?</a:t>
            </a:r>
          </a:p>
          <a:p>
            <a:r>
              <a:rPr lang="en-US" dirty="0"/>
              <a:t>What measures are in place to protect sensitive </a:t>
            </a:r>
            <a:r>
              <a:rPr lang="en-US" dirty="0" err="1"/>
              <a:t>data?Are</a:t>
            </a:r>
            <a:r>
              <a:rPr lang="en-US" dirty="0"/>
              <a:t> there vulnerabilities in the chosen technologies or </a:t>
            </a:r>
            <a:r>
              <a:rPr lang="en-US" dirty="0" err="1"/>
              <a:t>design?How</a:t>
            </a:r>
            <a:r>
              <a:rPr lang="en-US" dirty="0"/>
              <a:t> will authentication, authorization, and encryption be </a:t>
            </a:r>
            <a:r>
              <a:rPr lang="en-US" dirty="0" err="1"/>
              <a:t>implemented?How</a:t>
            </a:r>
            <a:r>
              <a:rPr lang="en-US" dirty="0"/>
              <a:t> does the architecture comply with privacy regulations (e.g., GDPR)?</a:t>
            </a:r>
          </a:p>
        </p:txBody>
      </p:sp>
      <p:sp>
        <p:nvSpPr>
          <p:cNvPr id="4" name="Slide Number Placeholder 3"/>
          <p:cNvSpPr>
            <a:spLocks noGrp="1"/>
          </p:cNvSpPr>
          <p:nvPr>
            <p:ph type="sldNum" sz="quarter" idx="5"/>
          </p:nvPr>
        </p:nvSpPr>
        <p:spPr/>
        <p:txBody>
          <a:bodyPr/>
          <a:lstStyle/>
          <a:p>
            <a:fld id="{9910BE80-B4E3-42FA-AA76-BDDCE087015A}" type="slidenum">
              <a:rPr lang="en-US" smtClean="0"/>
              <a:t>12</a:t>
            </a:fld>
            <a:endParaRPr lang="en-US"/>
          </a:p>
        </p:txBody>
      </p:sp>
    </p:spTree>
    <p:extLst>
      <p:ext uri="{BB962C8B-B14F-4D97-AF65-F5344CB8AC3E}">
        <p14:creationId xmlns:p14="http://schemas.microsoft.com/office/powerpoint/2010/main" val="54281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Logical </a:t>
            </a:r>
            <a:r>
              <a:rPr lang="en-US" b="1" dirty="0" err="1"/>
              <a:t>ViewFocus</a:t>
            </a:r>
            <a:r>
              <a:rPr lang="en-US" dirty="0"/>
              <a:t>: Captures the functional requirements of the system by showing its key abstractions and entities.</a:t>
            </a:r>
          </a:p>
          <a:p>
            <a:pPr>
              <a:buFont typeface="Arial" panose="020B0604020202020204" pitchFamily="34" charset="0"/>
              <a:buChar char="•"/>
            </a:pPr>
            <a:r>
              <a:rPr lang="en-US" b="1" dirty="0"/>
              <a:t>Stakeholders</a:t>
            </a:r>
            <a:r>
              <a:rPr lang="en-US" dirty="0"/>
              <a:t>: Developers, analysts.</a:t>
            </a:r>
          </a:p>
          <a:p>
            <a:pPr>
              <a:buFont typeface="Arial" panose="020B0604020202020204" pitchFamily="34" charset="0"/>
              <a:buChar char="•"/>
            </a:pPr>
            <a:r>
              <a:rPr lang="en-US" b="1" dirty="0"/>
              <a:t>Artifacts</a:t>
            </a:r>
            <a:r>
              <a:rPr lang="en-US" dirty="0"/>
              <a:t>: Class diagrams, state diagrams, and other UML diagrams.</a:t>
            </a:r>
          </a:p>
          <a:p>
            <a:pPr>
              <a:buFont typeface="Arial" panose="020B0604020202020204" pitchFamily="34" charset="0"/>
              <a:buChar char="•"/>
            </a:pPr>
            <a:r>
              <a:rPr lang="en-US" b="1" dirty="0"/>
              <a:t>Example</a:t>
            </a:r>
            <a:r>
              <a:rPr lang="en-US" dirty="0"/>
              <a:t>: How the system’s components (like users, services, and objects) interact to provide functionality.</a:t>
            </a:r>
          </a:p>
          <a:p>
            <a:endParaRPr lang="en-US" dirty="0"/>
          </a:p>
          <a:p>
            <a:pPr>
              <a:buFont typeface="Arial" panose="020B0604020202020204" pitchFamily="34" charset="0"/>
              <a:buChar char="•"/>
            </a:pPr>
            <a:r>
              <a:rPr lang="en-US" b="1" dirty="0"/>
              <a:t>Development (Implementation) </a:t>
            </a:r>
            <a:r>
              <a:rPr lang="en-US" b="1" dirty="0" err="1"/>
              <a:t>ViewFocus</a:t>
            </a:r>
            <a:r>
              <a:rPr lang="en-US" dirty="0"/>
              <a:t>: Shows the organization of the software code and its modular structure.</a:t>
            </a:r>
          </a:p>
          <a:p>
            <a:pPr>
              <a:buFont typeface="Arial" panose="020B0604020202020204" pitchFamily="34" charset="0"/>
              <a:buChar char="•"/>
            </a:pPr>
            <a:r>
              <a:rPr lang="en-US" b="1" dirty="0"/>
              <a:t>Stakeholders</a:t>
            </a:r>
            <a:r>
              <a:rPr lang="en-US" dirty="0"/>
              <a:t>: Developers, maintainers.</a:t>
            </a:r>
          </a:p>
          <a:p>
            <a:pPr>
              <a:buFont typeface="Arial" panose="020B0604020202020204" pitchFamily="34" charset="0"/>
              <a:buChar char="•"/>
            </a:pPr>
            <a:r>
              <a:rPr lang="en-US" b="1" dirty="0"/>
              <a:t>Artifacts</a:t>
            </a:r>
            <a:r>
              <a:rPr lang="en-US" dirty="0"/>
              <a:t>: Package diagrams, component diagrams.</a:t>
            </a:r>
          </a:p>
          <a:p>
            <a:pPr>
              <a:buFont typeface="Arial" panose="020B0604020202020204" pitchFamily="34" charset="0"/>
              <a:buChar char="•"/>
            </a:pPr>
            <a:r>
              <a:rPr lang="en-US" b="1" dirty="0"/>
              <a:t>Example</a:t>
            </a:r>
            <a:r>
              <a:rPr lang="en-US" dirty="0"/>
              <a:t>: The hierarchy and dependencies among software modules.</a:t>
            </a:r>
          </a:p>
          <a:p>
            <a:pPr>
              <a:buFont typeface="Arial" panose="020B0604020202020204" pitchFamily="34" charset="0"/>
              <a:buChar char="•"/>
            </a:pPr>
            <a:r>
              <a:rPr lang="en-US" b="1" dirty="0"/>
              <a:t>Process </a:t>
            </a:r>
            <a:r>
              <a:rPr lang="en-US" b="1" dirty="0" err="1"/>
              <a:t>ViewFocus</a:t>
            </a:r>
            <a:r>
              <a:rPr lang="en-US" dirty="0"/>
              <a:t>: Addresses the system's runtime behavior, including concurrency, performance, and scalability.</a:t>
            </a:r>
          </a:p>
          <a:p>
            <a:pPr>
              <a:buFont typeface="Arial" panose="020B0604020202020204" pitchFamily="34" charset="0"/>
              <a:buChar char="•"/>
            </a:pPr>
            <a:r>
              <a:rPr lang="en-US" b="1" dirty="0"/>
              <a:t>Stakeholders</a:t>
            </a:r>
            <a:r>
              <a:rPr lang="en-US" dirty="0"/>
              <a:t>: System integrators, performance engineers.</a:t>
            </a:r>
          </a:p>
          <a:p>
            <a:pPr>
              <a:buFont typeface="Arial" panose="020B0604020202020204" pitchFamily="34" charset="0"/>
              <a:buChar char="•"/>
            </a:pPr>
            <a:r>
              <a:rPr lang="en-US" b="1" dirty="0"/>
              <a:t>Artifacts</a:t>
            </a:r>
            <a:r>
              <a:rPr lang="en-US" dirty="0"/>
              <a:t>: Activity diagrams, sequence diagrams, and state diagrams.</a:t>
            </a:r>
          </a:p>
          <a:p>
            <a:pPr>
              <a:buFont typeface="Arial" panose="020B0604020202020204" pitchFamily="34" charset="0"/>
              <a:buChar char="•"/>
            </a:pPr>
            <a:r>
              <a:rPr lang="en-US" b="1" dirty="0"/>
              <a:t>Example</a:t>
            </a:r>
            <a:r>
              <a:rPr lang="en-US" dirty="0"/>
              <a:t>: How processes communicate, manage resources, or handle errors.</a:t>
            </a:r>
          </a:p>
          <a:p>
            <a:endParaRPr lang="en-US" dirty="0"/>
          </a:p>
          <a:p>
            <a:pPr>
              <a:buFont typeface="+mj-lt"/>
              <a:buAutoNum type="arabicPeriod" startAt="4"/>
            </a:pPr>
            <a:r>
              <a:rPr lang="en-US" b="1" dirty="0"/>
              <a:t>Physical (Deployment) View</a:t>
            </a:r>
            <a:endParaRPr lang="en-US" dirty="0"/>
          </a:p>
          <a:p>
            <a:pPr marL="742950" lvl="1" indent="-285750">
              <a:buFont typeface="+mj-lt"/>
              <a:buAutoNum type="arabicPeriod" startAt="4"/>
            </a:pPr>
            <a:r>
              <a:rPr lang="en-US" b="1" dirty="0"/>
              <a:t>Focus</a:t>
            </a:r>
            <a:r>
              <a:rPr lang="en-US" dirty="0"/>
              <a:t>: Describes the system's physical deployment on hardware, including nodes, servers, and networks.</a:t>
            </a:r>
          </a:p>
          <a:p>
            <a:pPr marL="742950" lvl="1" indent="-285750">
              <a:buFont typeface="+mj-lt"/>
              <a:buAutoNum type="arabicPeriod" startAt="4"/>
            </a:pPr>
            <a:r>
              <a:rPr lang="en-US" b="1" dirty="0"/>
              <a:t>Stakeholders</a:t>
            </a:r>
            <a:r>
              <a:rPr lang="en-US" dirty="0"/>
              <a:t>: System engineers, network engineers.</a:t>
            </a:r>
          </a:p>
          <a:p>
            <a:pPr marL="742950" lvl="1" indent="-285750">
              <a:buFont typeface="+mj-lt"/>
              <a:buAutoNum type="arabicPeriod" startAt="4"/>
            </a:pPr>
            <a:r>
              <a:rPr lang="en-US" b="1" dirty="0"/>
              <a:t>Artifacts</a:t>
            </a:r>
            <a:r>
              <a:rPr lang="en-US" dirty="0"/>
              <a:t>: Deployment diagrams, network topologies.</a:t>
            </a:r>
          </a:p>
          <a:p>
            <a:pPr marL="742950" lvl="1" indent="-285750">
              <a:buFont typeface="+mj-lt"/>
              <a:buAutoNum type="arabicPeriod" startAt="4"/>
            </a:pPr>
            <a:r>
              <a:rPr lang="en-US" b="1" dirty="0"/>
              <a:t>Example</a:t>
            </a:r>
            <a:r>
              <a:rPr lang="en-US" dirty="0"/>
              <a:t>: Mapping software components to physical servers.</a:t>
            </a:r>
          </a:p>
          <a:p>
            <a:pPr>
              <a:buFont typeface="Arial" panose="020B0604020202020204" pitchFamily="34" charset="0"/>
              <a:buChar char="•"/>
            </a:pPr>
            <a:r>
              <a:rPr lang="en-US" b="1" dirty="0"/>
              <a:t>Scenarios (Use Case) </a:t>
            </a:r>
            <a:r>
              <a:rPr lang="en-US" b="1" dirty="0" err="1"/>
              <a:t>ViewFocus</a:t>
            </a:r>
            <a:r>
              <a:rPr lang="en-US" dirty="0"/>
              <a:t>: Bridges all other views by describing specific use cases or scenarios that the system must handle.</a:t>
            </a:r>
          </a:p>
          <a:p>
            <a:pPr>
              <a:buFont typeface="Arial" panose="020B0604020202020204" pitchFamily="34" charset="0"/>
              <a:buChar char="•"/>
            </a:pPr>
            <a:r>
              <a:rPr lang="en-US" b="1" dirty="0"/>
              <a:t>Stakeholders</a:t>
            </a:r>
            <a:r>
              <a:rPr lang="en-US" dirty="0"/>
              <a:t>: All stakeholders, including clients and end-users.</a:t>
            </a:r>
          </a:p>
          <a:p>
            <a:pPr>
              <a:buFont typeface="Arial" panose="020B0604020202020204" pitchFamily="34" charset="0"/>
              <a:buChar char="•"/>
            </a:pPr>
            <a:r>
              <a:rPr lang="en-US" b="1" dirty="0"/>
              <a:t>Artifacts</a:t>
            </a:r>
            <a:r>
              <a:rPr lang="en-US" dirty="0"/>
              <a:t>: Use case diagrams, sequence diagrams.</a:t>
            </a:r>
          </a:p>
          <a:p>
            <a:pPr>
              <a:buFont typeface="Arial" panose="020B0604020202020204" pitchFamily="34" charset="0"/>
              <a:buChar char="•"/>
            </a:pPr>
            <a:r>
              <a:rPr lang="en-US" b="1" dirty="0"/>
              <a:t>Example</a:t>
            </a:r>
            <a:r>
              <a:rPr lang="en-US" dirty="0"/>
              <a:t>: A specific workflow, such as "user login," highlighting how different views come together.</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15</a:t>
            </a:fld>
            <a:endParaRPr lang="en-US"/>
          </a:p>
        </p:txBody>
      </p:sp>
    </p:spTree>
    <p:extLst>
      <p:ext uri="{BB962C8B-B14F-4D97-AF65-F5344CB8AC3E}">
        <p14:creationId xmlns:p14="http://schemas.microsoft.com/office/powerpoint/2010/main" val="2303577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dividing an application into smaller, reusable, and maintainable units called </a:t>
            </a:r>
            <a:r>
              <a:rPr lang="en-US" b="1" dirty="0"/>
              <a:t>modules</a:t>
            </a:r>
            <a:r>
              <a:rPr lang="en-US" dirty="0"/>
              <a:t>. This approach promotes separation of concerns, better organization, and easier testing. </a:t>
            </a:r>
          </a:p>
          <a:p>
            <a:pPr>
              <a:buFont typeface="Arial" panose="020B0604020202020204" pitchFamily="34" charset="0"/>
              <a:buChar char="•"/>
            </a:pPr>
            <a:r>
              <a:rPr lang="en-US" dirty="0"/>
              <a:t>Modules organize the app into </a:t>
            </a:r>
            <a:r>
              <a:rPr lang="en-US" b="1" dirty="0"/>
              <a:t>logical sections</a:t>
            </a:r>
            <a:r>
              <a:rPr lang="en-US" dirty="0"/>
              <a:t>. For </a:t>
            </a:r>
            <a:r>
              <a:rPr lang="en-US" dirty="0" err="1"/>
              <a:t>example:UserModule</a:t>
            </a:r>
            <a:r>
              <a:rPr lang="en-US" dirty="0"/>
              <a:t>: Handles user-related functionality (login, profile, settings).</a:t>
            </a:r>
          </a:p>
          <a:p>
            <a:pPr>
              <a:buFont typeface="Arial" panose="020B0604020202020204" pitchFamily="34" charset="0"/>
              <a:buChar char="•"/>
            </a:pPr>
            <a:r>
              <a:rPr lang="en-US" dirty="0" err="1"/>
              <a:t>ProductModule</a:t>
            </a:r>
            <a:r>
              <a:rPr lang="en-US" dirty="0"/>
              <a:t>: Manages product catalog, details, and reviews.</a:t>
            </a:r>
          </a:p>
          <a:p>
            <a:pPr>
              <a:buFont typeface="Arial" panose="020B0604020202020204" pitchFamily="34" charset="0"/>
              <a:buChar char="•"/>
            </a:pPr>
            <a:r>
              <a:rPr lang="en-US" dirty="0" err="1"/>
              <a:t>AdminModule</a:t>
            </a:r>
            <a:r>
              <a:rPr lang="en-US" dirty="0"/>
              <a:t>: Contains admin dashboards, reports, and settings.</a:t>
            </a:r>
          </a:p>
          <a:p>
            <a:endParaRPr lang="en-US" dirty="0"/>
          </a:p>
          <a:p>
            <a:pPr>
              <a:buFont typeface="Arial" panose="020B0604020202020204" pitchFamily="34" charset="0"/>
              <a:buChar char="•"/>
            </a:pPr>
            <a:r>
              <a:rPr lang="en-US" dirty="0"/>
              <a:t>A module contains all the components needed for a feature or section. For </a:t>
            </a:r>
            <a:r>
              <a:rPr lang="en-US" dirty="0" err="1"/>
              <a:t>instance:ProductModule</a:t>
            </a:r>
            <a:r>
              <a:rPr lang="en-US" dirty="0"/>
              <a:t> might include:</a:t>
            </a:r>
          </a:p>
          <a:p>
            <a:pPr marL="742950" lvl="1" indent="-285750">
              <a:buFont typeface="Arial" panose="020B0604020202020204" pitchFamily="34" charset="0"/>
              <a:buChar char="•"/>
            </a:pPr>
            <a:r>
              <a:rPr lang="en-US" dirty="0" err="1"/>
              <a:t>ProductListComponent</a:t>
            </a:r>
            <a:endParaRPr lang="en-US" dirty="0"/>
          </a:p>
          <a:p>
            <a:pPr marL="742950" lvl="1" indent="-285750">
              <a:buFont typeface="Arial" panose="020B0604020202020204" pitchFamily="34" charset="0"/>
              <a:buChar char="•"/>
            </a:pPr>
            <a:r>
              <a:rPr lang="en-US" dirty="0" err="1"/>
              <a:t>ProductDetailsComponent</a:t>
            </a:r>
            <a:endParaRPr lang="en-US" dirty="0"/>
          </a:p>
          <a:p>
            <a:pPr marL="742950" lvl="1" indent="-285750">
              <a:buFont typeface="Arial" panose="020B0604020202020204" pitchFamily="34" charset="0"/>
              <a:buChar char="•"/>
            </a:pPr>
            <a:r>
              <a:rPr lang="en-US" dirty="0" err="1"/>
              <a:t>ProductReviewComponent</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Modules can be reused across multiple projects or parts of the application. For </a:t>
            </a:r>
            <a:r>
              <a:rPr lang="en-US" dirty="0" err="1"/>
              <a:t>instance:A</a:t>
            </a:r>
            <a:r>
              <a:rPr lang="en-US" dirty="0"/>
              <a:t> </a:t>
            </a:r>
            <a:r>
              <a:rPr lang="en-US" dirty="0" err="1"/>
              <a:t>SharedModule</a:t>
            </a:r>
            <a:r>
              <a:rPr lang="en-US" dirty="0"/>
              <a:t> contains common components (like a modal, button, or toast notification) used across different features.</a:t>
            </a:r>
          </a:p>
          <a:p>
            <a:endParaRPr lang="en-US" dirty="0"/>
          </a:p>
          <a:p>
            <a:r>
              <a:rPr lang="en-US" b="1" dirty="0"/>
              <a:t>Lazy Loading</a:t>
            </a:r>
          </a:p>
          <a:p>
            <a:pPr>
              <a:buFont typeface="Arial" panose="020B0604020202020204" pitchFamily="34" charset="0"/>
              <a:buChar char="•"/>
            </a:pPr>
            <a:r>
              <a:rPr lang="en-US" dirty="0"/>
              <a:t>Modules support </a:t>
            </a:r>
            <a:r>
              <a:rPr lang="en-US" b="1" dirty="0"/>
              <a:t>lazy loading</a:t>
            </a:r>
            <a:r>
              <a:rPr lang="en-US" dirty="0"/>
              <a:t>, which means loading specific parts of the app only when needed, improving performance for large apps.</a:t>
            </a:r>
          </a:p>
          <a:p>
            <a:endParaRPr lang="en-US" dirty="0"/>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19</a:t>
            </a:fld>
            <a:endParaRPr lang="en-US"/>
          </a:p>
        </p:txBody>
      </p:sp>
    </p:spTree>
    <p:extLst>
      <p:ext uri="{BB962C8B-B14F-4D97-AF65-F5344CB8AC3E}">
        <p14:creationId xmlns:p14="http://schemas.microsoft.com/office/powerpoint/2010/main" val="1146055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Scope </a:t>
            </a:r>
            <a:r>
              <a:rPr lang="en-US" dirty="0"/>
              <a:t>Organizes multiple components and features into a unit   </a:t>
            </a:r>
          </a:p>
          <a:p>
            <a:r>
              <a:rPr lang="en-US" dirty="0"/>
              <a:t>COMPONENT Defines the UI and logic for a specific part of the app</a:t>
            </a:r>
          </a:p>
          <a:p>
            <a:r>
              <a:rPr lang="en-US" b="1" dirty="0"/>
              <a:t>Granularity </a:t>
            </a:r>
            <a:r>
              <a:rPr lang="en-US" dirty="0"/>
              <a:t>Higher-level, broad grouping  </a:t>
            </a:r>
          </a:p>
          <a:p>
            <a:r>
              <a:rPr lang="en-US" dirty="0"/>
              <a:t>COMPONENT Lower-level, fine-grained</a:t>
            </a:r>
          </a:p>
          <a:p>
            <a:r>
              <a:rPr lang="en-US" dirty="0"/>
              <a:t> </a:t>
            </a:r>
            <a:r>
              <a:rPr lang="en-US" b="1" dirty="0" err="1"/>
              <a:t>Purpose</a:t>
            </a:r>
            <a:r>
              <a:rPr lang="en-US" dirty="0" err="1"/>
              <a:t>Encapsulates</a:t>
            </a:r>
            <a:r>
              <a:rPr lang="en-US" dirty="0"/>
              <a:t> related app functionality  </a:t>
            </a:r>
          </a:p>
          <a:p>
            <a:r>
              <a:rPr lang="en-US" dirty="0"/>
              <a:t>COMPONENT Encapsulates a specific UI element or interaction</a:t>
            </a:r>
          </a:p>
          <a:p>
            <a:r>
              <a:rPr lang="en-US" b="1" dirty="0" err="1"/>
              <a:t>Reusability</a:t>
            </a:r>
            <a:r>
              <a:rPr lang="en-US" dirty="0" err="1"/>
              <a:t>Groups</a:t>
            </a:r>
            <a:r>
              <a:rPr lang="en-US" dirty="0"/>
              <a:t> reusable components and services</a:t>
            </a:r>
          </a:p>
          <a:p>
            <a:r>
              <a:rPr lang="en-US" dirty="0"/>
              <a:t> COMPONENT Creates reusable UI elements</a:t>
            </a:r>
          </a:p>
        </p:txBody>
      </p:sp>
      <p:sp>
        <p:nvSpPr>
          <p:cNvPr id="4" name="Slide Number Placeholder 3"/>
          <p:cNvSpPr>
            <a:spLocks noGrp="1"/>
          </p:cNvSpPr>
          <p:nvPr>
            <p:ph type="sldNum" sz="quarter" idx="5"/>
          </p:nvPr>
        </p:nvSpPr>
        <p:spPr/>
        <p:txBody>
          <a:bodyPr/>
          <a:lstStyle/>
          <a:p>
            <a:fld id="{9910BE80-B4E3-42FA-AA76-BDDCE087015A}" type="slidenum">
              <a:rPr lang="en-US" smtClean="0"/>
              <a:t>20</a:t>
            </a:fld>
            <a:endParaRPr lang="en-US"/>
          </a:p>
        </p:txBody>
      </p:sp>
    </p:spTree>
    <p:extLst>
      <p:ext uri="{BB962C8B-B14F-4D97-AF65-F5344CB8AC3E}">
        <p14:creationId xmlns:p14="http://schemas.microsoft.com/office/powerpoint/2010/main" val="635202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Cohesion refers to how </a:t>
            </a:r>
            <a:r>
              <a:rPr lang="en-US" b="1" dirty="0"/>
              <a:t>closely related and focused</a:t>
            </a:r>
            <a:r>
              <a:rPr lang="en-US" dirty="0"/>
              <a:t> the responsibilities of a module or component are. High cohesion means the module or component does one thing and does it well.</a:t>
            </a:r>
          </a:p>
          <a:p>
            <a:endParaRPr lang="en-US" dirty="0"/>
          </a:p>
          <a:p>
            <a:r>
              <a:rPr lang="en-US" dirty="0"/>
              <a:t>Coupling refers to the </a:t>
            </a:r>
            <a:r>
              <a:rPr lang="en-US" b="1" dirty="0"/>
              <a:t>degree of dependency</a:t>
            </a:r>
            <a:r>
              <a:rPr lang="en-US" dirty="0"/>
              <a:t> between modules or components. Low coupling is preferred because it makes the system more modular and flexible.</a:t>
            </a:r>
          </a:p>
        </p:txBody>
      </p:sp>
      <p:sp>
        <p:nvSpPr>
          <p:cNvPr id="4" name="Slide Number Placeholder 3"/>
          <p:cNvSpPr>
            <a:spLocks noGrp="1"/>
          </p:cNvSpPr>
          <p:nvPr>
            <p:ph type="sldNum" sz="quarter" idx="5"/>
          </p:nvPr>
        </p:nvSpPr>
        <p:spPr/>
        <p:txBody>
          <a:bodyPr/>
          <a:lstStyle/>
          <a:p>
            <a:fld id="{9910BE80-B4E3-42FA-AA76-BDDCE087015A}" type="slidenum">
              <a:rPr lang="en-US" smtClean="0"/>
              <a:t>22</a:t>
            </a:fld>
            <a:endParaRPr lang="en-US"/>
          </a:p>
        </p:txBody>
      </p:sp>
    </p:spTree>
    <p:extLst>
      <p:ext uri="{BB962C8B-B14F-4D97-AF65-F5344CB8AC3E}">
        <p14:creationId xmlns:p14="http://schemas.microsoft.com/office/powerpoint/2010/main" val="2291767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Software Example: High Cohesion</a:t>
            </a:r>
          </a:p>
          <a:p>
            <a:r>
              <a:rPr lang="en-US" dirty="0"/>
              <a:t>A </a:t>
            </a:r>
            <a:r>
              <a:rPr lang="en-US" b="1" dirty="0" err="1"/>
              <a:t>LoginService</a:t>
            </a:r>
            <a:r>
              <a:rPr lang="en-US" dirty="0"/>
              <a:t> that:</a:t>
            </a:r>
          </a:p>
          <a:p>
            <a:pPr>
              <a:buFont typeface="Arial" panose="020B0604020202020204" pitchFamily="34" charset="0"/>
              <a:buChar char="•"/>
            </a:pPr>
            <a:r>
              <a:rPr lang="en-US" dirty="0"/>
              <a:t>Validates user credentials.</a:t>
            </a:r>
          </a:p>
          <a:p>
            <a:pPr>
              <a:buFont typeface="Arial" panose="020B0604020202020204" pitchFamily="34" charset="0"/>
              <a:buChar char="•"/>
            </a:pPr>
            <a:r>
              <a:rPr lang="en-US" dirty="0"/>
              <a:t>Communicates with the authentication API.</a:t>
            </a:r>
          </a:p>
          <a:p>
            <a:r>
              <a:rPr lang="en-US" b="1" dirty="0"/>
              <a:t>Why High Cohesion?</a:t>
            </a:r>
            <a:r>
              <a:rPr lang="en-US" dirty="0"/>
              <a:t> The service focuses solely on login-related tasks and doesn’t handle unrelated logic like user profile management or order processing.</a:t>
            </a:r>
          </a:p>
          <a:p>
            <a:endParaRPr lang="en-US" dirty="0"/>
          </a:p>
          <a:p>
            <a:r>
              <a:rPr lang="en-US" b="1" dirty="0"/>
              <a:t>Low Cohesion</a:t>
            </a:r>
          </a:p>
          <a:p>
            <a:r>
              <a:rPr lang="en-US" dirty="0"/>
              <a:t>A service that:</a:t>
            </a:r>
          </a:p>
          <a:p>
            <a:pPr>
              <a:buFont typeface="Arial" panose="020B0604020202020204" pitchFamily="34" charset="0"/>
              <a:buChar char="•"/>
            </a:pPr>
            <a:r>
              <a:rPr lang="en-US" dirty="0"/>
              <a:t>Logs in users.</a:t>
            </a:r>
          </a:p>
          <a:p>
            <a:pPr>
              <a:buFont typeface="Arial" panose="020B0604020202020204" pitchFamily="34" charset="0"/>
              <a:buChar char="•"/>
            </a:pPr>
            <a:r>
              <a:rPr lang="en-US" dirty="0"/>
              <a:t>Manages user profiles.</a:t>
            </a:r>
          </a:p>
          <a:p>
            <a:pPr>
              <a:buFont typeface="Arial" panose="020B0604020202020204" pitchFamily="34" charset="0"/>
              <a:buChar char="•"/>
            </a:pPr>
            <a:r>
              <a:rPr lang="en-US" dirty="0"/>
              <a:t>Sends order confirmations.</a:t>
            </a:r>
          </a:p>
          <a:p>
            <a:r>
              <a:rPr lang="en-US" b="1" dirty="0"/>
              <a:t>Why Low Cohesion?</a:t>
            </a:r>
            <a:r>
              <a:rPr lang="en-US" dirty="0"/>
              <a:t> Combining unrelated responsibilities makes the service harder to maintain, test, and reuse.</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23</a:t>
            </a:fld>
            <a:endParaRPr lang="en-US"/>
          </a:p>
        </p:txBody>
      </p:sp>
    </p:spTree>
    <p:extLst>
      <p:ext uri="{BB962C8B-B14F-4D97-AF65-F5344CB8AC3E}">
        <p14:creationId xmlns:p14="http://schemas.microsoft.com/office/powerpoint/2010/main" val="4232631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Software Example: Low Coupling</a:t>
            </a:r>
          </a:p>
          <a:p>
            <a:r>
              <a:rPr lang="en-US" dirty="0"/>
              <a:t>A </a:t>
            </a:r>
            <a:r>
              <a:rPr lang="en-US" dirty="0" err="1"/>
              <a:t>PaymentService</a:t>
            </a:r>
            <a:r>
              <a:rPr lang="en-US" dirty="0"/>
              <a:t> and </a:t>
            </a:r>
            <a:r>
              <a:rPr lang="en-US" dirty="0" err="1"/>
              <a:t>OrderService</a:t>
            </a:r>
            <a:r>
              <a:rPr lang="en-US" dirty="0"/>
              <a:t> communicate using well-defined interfaces.</a:t>
            </a:r>
          </a:p>
          <a:p>
            <a:pPr>
              <a:buFont typeface="Arial" panose="020B0604020202020204" pitchFamily="34" charset="0"/>
              <a:buChar char="•"/>
            </a:pPr>
            <a:r>
              <a:rPr lang="en-US" dirty="0" err="1"/>
              <a:t>OrderService</a:t>
            </a:r>
            <a:r>
              <a:rPr lang="en-US" dirty="0"/>
              <a:t> calls </a:t>
            </a:r>
            <a:r>
              <a:rPr lang="en-US" dirty="0" err="1"/>
              <a:t>PaymentService</a:t>
            </a:r>
            <a:r>
              <a:rPr lang="en-US" dirty="0"/>
              <a:t> to process payments but doesn’t know the implementation details (e.g., which payment gateway is used).</a:t>
            </a:r>
          </a:p>
          <a:p>
            <a:r>
              <a:rPr lang="en-US" b="1" dirty="0"/>
              <a:t>Why Low Coupling?</a:t>
            </a:r>
            <a:r>
              <a:rPr lang="en-US" dirty="0"/>
              <a:t> You can change the payment gateway logic without modifying the </a:t>
            </a:r>
            <a:r>
              <a:rPr lang="en-US" dirty="0" err="1"/>
              <a:t>OrderService</a:t>
            </a:r>
            <a:r>
              <a:rPr lang="en-US" dirty="0"/>
              <a:t>.</a:t>
            </a:r>
          </a:p>
          <a:p>
            <a:endParaRPr lang="en-US" dirty="0"/>
          </a:p>
          <a:p>
            <a:r>
              <a:rPr lang="en-US" b="1" dirty="0"/>
              <a:t>Software Example: High Coupling</a:t>
            </a:r>
          </a:p>
          <a:p>
            <a:r>
              <a:rPr lang="en-US" dirty="0"/>
              <a:t>The </a:t>
            </a:r>
            <a:r>
              <a:rPr lang="en-US" dirty="0" err="1"/>
              <a:t>OrderService</a:t>
            </a:r>
            <a:r>
              <a:rPr lang="en-US" dirty="0"/>
              <a:t> directly calls methods inside the </a:t>
            </a:r>
            <a:r>
              <a:rPr lang="en-US" dirty="0" err="1"/>
              <a:t>PaymentService</a:t>
            </a:r>
            <a:r>
              <a:rPr lang="en-US" dirty="0"/>
              <a:t> and relies on its internal implementation (e.g., accessing private methods or specific database schemas).</a:t>
            </a:r>
          </a:p>
          <a:p>
            <a:r>
              <a:rPr lang="en-US" b="1" dirty="0"/>
              <a:t>Why High Coupling?</a:t>
            </a:r>
            <a:r>
              <a:rPr lang="en-US" dirty="0"/>
              <a:t> Changes in the </a:t>
            </a:r>
            <a:r>
              <a:rPr lang="en-US" dirty="0" err="1"/>
              <a:t>PaymentService</a:t>
            </a:r>
            <a:r>
              <a:rPr lang="en-US" dirty="0"/>
              <a:t> can break the </a:t>
            </a:r>
            <a:r>
              <a:rPr lang="en-US" dirty="0" err="1"/>
              <a:t>OrderService</a:t>
            </a:r>
            <a:r>
              <a:rPr lang="en-US" dirty="0"/>
              <a:t>, making the system less maintainable.</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24</a:t>
            </a:fld>
            <a:endParaRPr lang="en-US"/>
          </a:p>
        </p:txBody>
      </p:sp>
    </p:spTree>
    <p:extLst>
      <p:ext uri="{BB962C8B-B14F-4D97-AF65-F5344CB8AC3E}">
        <p14:creationId xmlns:p14="http://schemas.microsoft.com/office/powerpoint/2010/main" val="788404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Client side ko components</a:t>
            </a:r>
          </a:p>
          <a:p>
            <a:r>
              <a:rPr lang="en-US" b="1" dirty="0"/>
              <a:t>User Interface (UI)</a:t>
            </a:r>
            <a:r>
              <a:rPr lang="en-US" dirty="0"/>
              <a:t>:</a:t>
            </a:r>
          </a:p>
          <a:p>
            <a:pPr>
              <a:buFont typeface="Arial" panose="020B0604020202020204" pitchFamily="34" charset="0"/>
              <a:buChar char="•"/>
            </a:pPr>
            <a:r>
              <a:rPr lang="en-US" dirty="0"/>
              <a:t>Displays data to the user and captures user input.</a:t>
            </a:r>
          </a:p>
          <a:p>
            <a:pPr>
              <a:buFont typeface="Arial" panose="020B0604020202020204" pitchFamily="34" charset="0"/>
              <a:buChar char="•"/>
            </a:pPr>
            <a:r>
              <a:rPr lang="en-US" dirty="0"/>
              <a:t>Example: Buttons, forms, and menus in a mobile app or website.</a:t>
            </a:r>
          </a:p>
          <a:p>
            <a:r>
              <a:rPr lang="en-US" b="1" dirty="0"/>
              <a:t>Application Logic</a:t>
            </a:r>
            <a:r>
              <a:rPr lang="en-US" dirty="0"/>
              <a:t>:</a:t>
            </a:r>
          </a:p>
          <a:p>
            <a:pPr>
              <a:buFont typeface="Arial" panose="020B0604020202020204" pitchFamily="34" charset="0"/>
              <a:buChar char="•"/>
            </a:pPr>
            <a:r>
              <a:rPr lang="en-US" dirty="0"/>
              <a:t>Processes user input before sending a request to the server.</a:t>
            </a:r>
          </a:p>
          <a:p>
            <a:pPr>
              <a:buFont typeface="Arial" panose="020B0604020202020204" pitchFamily="34" charset="0"/>
              <a:buChar char="•"/>
            </a:pPr>
            <a:r>
              <a:rPr lang="en-US" dirty="0"/>
              <a:t>Example: Validating form data before sending it to the server.</a:t>
            </a:r>
          </a:p>
          <a:p>
            <a:r>
              <a:rPr lang="en-US" b="1" dirty="0"/>
              <a:t>Request Mechanism</a:t>
            </a:r>
            <a:r>
              <a:rPr lang="en-US" dirty="0"/>
              <a:t>:</a:t>
            </a:r>
          </a:p>
          <a:p>
            <a:pPr>
              <a:buFont typeface="Arial" panose="020B0604020202020204" pitchFamily="34" charset="0"/>
              <a:buChar char="•"/>
            </a:pPr>
            <a:r>
              <a:rPr lang="en-US" dirty="0"/>
              <a:t>Sends requests to the server over a network using protocols (e.g., HTTP, HTTPS, or WebSocket).</a:t>
            </a:r>
          </a:p>
          <a:p>
            <a:pPr>
              <a:buFont typeface="Arial" panose="020B0604020202020204" pitchFamily="34" charset="0"/>
              <a:buChar char="•"/>
            </a:pPr>
            <a:r>
              <a:rPr lang="en-US" dirty="0"/>
              <a:t>Example: AJAX calls or API requests.</a:t>
            </a:r>
          </a:p>
          <a:p>
            <a:r>
              <a:rPr lang="en-US" b="1" dirty="0"/>
              <a:t>Client Device</a:t>
            </a:r>
            <a:r>
              <a:rPr lang="en-US" dirty="0"/>
              <a:t>:</a:t>
            </a:r>
          </a:p>
          <a:p>
            <a:pPr>
              <a:buFont typeface="Arial" panose="020B0604020202020204" pitchFamily="34" charset="0"/>
              <a:buChar char="•"/>
            </a:pPr>
            <a:r>
              <a:rPr lang="en-US" dirty="0"/>
              <a:t>The physical or virtual device hosting the client software.</a:t>
            </a:r>
          </a:p>
          <a:p>
            <a:pPr>
              <a:buFont typeface="Arial" panose="020B0604020202020204" pitchFamily="34" charset="0"/>
              <a:buChar char="•"/>
            </a:pPr>
            <a:r>
              <a:rPr lang="en-US" dirty="0"/>
              <a:t>Examples: Browsers (Chrome, Firefox), mobile apps, or desktop applications.</a:t>
            </a:r>
          </a:p>
          <a:p>
            <a:pPr>
              <a:buFont typeface="Arial" panose="020B0604020202020204" pitchFamily="34" charset="0"/>
              <a:buChar char="•"/>
            </a:pPr>
            <a:endParaRPr lang="en-US" dirty="0"/>
          </a:p>
          <a:p>
            <a:pPr>
              <a:buFont typeface="Arial" panose="020B0604020202020204" pitchFamily="34" charset="0"/>
              <a:buChar char="•"/>
            </a:pPr>
            <a:r>
              <a:rPr lang="en-US" dirty="0"/>
              <a:t>Server side ko components</a:t>
            </a:r>
          </a:p>
          <a:p>
            <a:r>
              <a:rPr lang="en-US" b="1" dirty="0"/>
              <a:t>Application Logic</a:t>
            </a:r>
            <a:r>
              <a:rPr lang="en-US" dirty="0"/>
              <a:t>:</a:t>
            </a:r>
          </a:p>
          <a:p>
            <a:pPr>
              <a:buFont typeface="Arial" panose="020B0604020202020204" pitchFamily="34" charset="0"/>
              <a:buChar char="•"/>
            </a:pPr>
            <a:r>
              <a:rPr lang="en-US" dirty="0"/>
              <a:t>Handles the processing of client requests and implements business rules.</a:t>
            </a:r>
          </a:p>
          <a:p>
            <a:pPr>
              <a:buFont typeface="Arial" panose="020B0604020202020204" pitchFamily="34" charset="0"/>
              <a:buChar char="•"/>
            </a:pPr>
            <a:r>
              <a:rPr lang="en-US" dirty="0"/>
              <a:t>Example: Authenticating a user or calculating pricing.</a:t>
            </a:r>
          </a:p>
          <a:p>
            <a:r>
              <a:rPr lang="en-US" b="1" dirty="0"/>
              <a:t>Database Management</a:t>
            </a:r>
            <a:r>
              <a:rPr lang="en-US" dirty="0"/>
              <a:t>:</a:t>
            </a:r>
          </a:p>
          <a:p>
            <a:pPr>
              <a:buFont typeface="Arial" panose="020B0604020202020204" pitchFamily="34" charset="0"/>
              <a:buChar char="•"/>
            </a:pPr>
            <a:r>
              <a:rPr lang="en-US" dirty="0"/>
              <a:t>Stores and retrieves data needed by the server to fulfill client requests.</a:t>
            </a:r>
          </a:p>
          <a:p>
            <a:pPr>
              <a:buFont typeface="Arial" panose="020B0604020202020204" pitchFamily="34" charset="0"/>
              <a:buChar char="•"/>
            </a:pPr>
            <a:r>
              <a:rPr lang="en-US" dirty="0"/>
              <a:t>Example: A SQL database storing user profiles or product catalogs.</a:t>
            </a:r>
          </a:p>
          <a:p>
            <a:r>
              <a:rPr lang="en-US" b="1" dirty="0"/>
              <a:t>Request Handler</a:t>
            </a:r>
            <a:r>
              <a:rPr lang="en-US" dirty="0"/>
              <a:t>:</a:t>
            </a:r>
          </a:p>
          <a:p>
            <a:pPr>
              <a:buFont typeface="Arial" panose="020B0604020202020204" pitchFamily="34" charset="0"/>
              <a:buChar char="•"/>
            </a:pPr>
            <a:r>
              <a:rPr lang="en-US" dirty="0"/>
              <a:t>Receives and processes client requests, then prepares a response.</a:t>
            </a:r>
          </a:p>
          <a:p>
            <a:pPr>
              <a:buFont typeface="Arial" panose="020B0604020202020204" pitchFamily="34" charset="0"/>
              <a:buChar char="•"/>
            </a:pPr>
            <a:r>
              <a:rPr lang="en-US" dirty="0"/>
              <a:t>Example: An API endpoint like GET /users.</a:t>
            </a:r>
          </a:p>
          <a:p>
            <a:r>
              <a:rPr lang="en-US" b="1" dirty="0"/>
              <a:t>Communication Protocol</a:t>
            </a:r>
            <a:r>
              <a:rPr lang="en-US" dirty="0"/>
              <a:t>:</a:t>
            </a:r>
          </a:p>
          <a:p>
            <a:pPr>
              <a:buFont typeface="Arial" panose="020B0604020202020204" pitchFamily="34" charset="0"/>
              <a:buChar char="•"/>
            </a:pPr>
            <a:r>
              <a:rPr lang="en-US" dirty="0"/>
              <a:t>Defines how the server and client communicate.</a:t>
            </a:r>
          </a:p>
          <a:p>
            <a:pPr>
              <a:buFont typeface="Arial" panose="020B0604020202020204" pitchFamily="34" charset="0"/>
              <a:buChar char="•"/>
            </a:pPr>
            <a:r>
              <a:rPr lang="en-US" dirty="0"/>
              <a:t>Example: HTTP/HTTPS for web applications or TCP/IP for other applications.</a:t>
            </a:r>
          </a:p>
          <a:p>
            <a:r>
              <a:rPr lang="en-US" b="1" dirty="0"/>
              <a:t>Hardware Infrastructure</a:t>
            </a:r>
            <a:r>
              <a:rPr lang="en-US" dirty="0"/>
              <a:t>:</a:t>
            </a:r>
          </a:p>
          <a:p>
            <a:pPr>
              <a:buFont typeface="Arial" panose="020B0604020202020204" pitchFamily="34" charset="0"/>
              <a:buChar char="•"/>
            </a:pPr>
            <a:r>
              <a:rPr lang="en-US" dirty="0"/>
              <a:t>The physical or virtual server hosting the application.</a:t>
            </a:r>
          </a:p>
          <a:p>
            <a:pPr>
              <a:buFont typeface="Arial" panose="020B0604020202020204" pitchFamily="34" charset="0"/>
              <a:buChar char="•"/>
            </a:pPr>
            <a:r>
              <a:rPr lang="en-US" dirty="0"/>
              <a:t>Examples: Cloud servers (AWS, Azure), on-premises servers.</a:t>
            </a:r>
          </a:p>
          <a:p>
            <a:pPr>
              <a:buFont typeface="Arial" panose="020B0604020202020204" pitchFamily="34" charset="0"/>
              <a:buChar char="•"/>
            </a:pPr>
            <a:endParaRPr lang="en-US" dirty="0"/>
          </a:p>
          <a:p>
            <a:r>
              <a:rPr lang="en-US" b="1" dirty="0"/>
              <a:t>Components of the Network:</a:t>
            </a:r>
          </a:p>
          <a:p>
            <a:pPr>
              <a:buFont typeface="+mj-lt"/>
              <a:buAutoNum type="arabicPeriod"/>
            </a:pPr>
            <a:r>
              <a:rPr lang="en-US" b="1" dirty="0"/>
              <a:t>Transport Protocols</a:t>
            </a:r>
            <a:r>
              <a:rPr lang="en-US" dirty="0"/>
              <a:t>:</a:t>
            </a:r>
          </a:p>
          <a:p>
            <a:pPr marL="742950" lvl="1" indent="-285750">
              <a:buFont typeface="+mj-lt"/>
              <a:buAutoNum type="arabicPeriod"/>
            </a:pPr>
            <a:r>
              <a:rPr lang="en-US" dirty="0"/>
              <a:t>Facilitates communication between the client and server.</a:t>
            </a:r>
          </a:p>
          <a:p>
            <a:pPr marL="742950" lvl="1" indent="-285750">
              <a:buFont typeface="+mj-lt"/>
              <a:buAutoNum type="arabicPeriod"/>
            </a:pPr>
            <a:r>
              <a:rPr lang="en-US" dirty="0"/>
              <a:t>Example: TCP/IP for reliability, UDP for speed.</a:t>
            </a:r>
          </a:p>
          <a:p>
            <a:pPr>
              <a:buFont typeface="+mj-lt"/>
              <a:buAutoNum type="arabicPeriod"/>
            </a:pPr>
            <a:r>
              <a:rPr lang="en-US" b="1" dirty="0"/>
              <a:t>Security Protocols</a:t>
            </a:r>
            <a:r>
              <a:rPr lang="en-US" dirty="0"/>
              <a:t>:</a:t>
            </a:r>
          </a:p>
          <a:p>
            <a:pPr marL="742950" lvl="1" indent="-285750">
              <a:buFont typeface="+mj-lt"/>
              <a:buAutoNum type="arabicPeriod"/>
            </a:pPr>
            <a:r>
              <a:rPr lang="en-US" dirty="0"/>
              <a:t>Ensures secure communication.</a:t>
            </a:r>
          </a:p>
          <a:p>
            <a:pPr marL="742950" lvl="1" indent="-285750">
              <a:buFont typeface="+mj-lt"/>
              <a:buAutoNum type="arabicPeriod"/>
            </a:pPr>
            <a:r>
              <a:rPr lang="en-US" dirty="0"/>
              <a:t>Example: SSL/TLS for encrypted HTTP requests (HTTPS).</a:t>
            </a:r>
          </a:p>
          <a:p>
            <a:pPr>
              <a:buFont typeface="+mj-lt"/>
              <a:buAutoNum type="arabicPeriod"/>
            </a:pPr>
            <a:r>
              <a:rPr lang="en-US" b="1" dirty="0"/>
              <a:t>Network Devices</a:t>
            </a:r>
            <a:r>
              <a:rPr lang="en-US" dirty="0"/>
              <a:t>:</a:t>
            </a:r>
          </a:p>
          <a:p>
            <a:pPr marL="742950" lvl="1" indent="-285750">
              <a:buFont typeface="+mj-lt"/>
              <a:buAutoNum type="arabicPeriod"/>
            </a:pPr>
            <a:r>
              <a:rPr lang="en-US" dirty="0"/>
              <a:t>Physical devices like routers, switches, and firewalls that route data between clients and servers.</a:t>
            </a:r>
          </a:p>
          <a:p>
            <a:pPr>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30</a:t>
            </a:fld>
            <a:endParaRPr lang="en-US"/>
          </a:p>
        </p:txBody>
      </p:sp>
    </p:spTree>
    <p:extLst>
      <p:ext uri="{BB962C8B-B14F-4D97-AF65-F5344CB8AC3E}">
        <p14:creationId xmlns:p14="http://schemas.microsoft.com/office/powerpoint/2010/main" val="4043883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34</a:t>
            </a:fld>
            <a:endParaRPr lang="en-US"/>
          </a:p>
        </p:txBody>
      </p:sp>
    </p:spTree>
    <p:extLst>
      <p:ext uri="{BB962C8B-B14F-4D97-AF65-F5344CB8AC3E}">
        <p14:creationId xmlns:p14="http://schemas.microsoft.com/office/powerpoint/2010/main" val="2204209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has a distinct role and responsibility.</a:t>
            </a:r>
          </a:p>
          <a:p>
            <a:r>
              <a:rPr lang="en-US" dirty="0"/>
              <a:t>Layers only interact with the adjacent layers, reducing dependencies and complexity.</a:t>
            </a:r>
          </a:p>
          <a:p>
            <a:r>
              <a:rPr lang="en-US" dirty="0"/>
              <a:t>Internal details of each layer are hidden from other layers, exposing only necessary interfaces.</a:t>
            </a:r>
          </a:p>
          <a:p>
            <a:r>
              <a:rPr lang="en-US" dirty="0"/>
              <a:t>Changes in one layer have minimal impact on other </a:t>
            </a:r>
            <a:r>
              <a:rPr lang="en-US" dirty="0" err="1"/>
              <a:t>layers.Easier</a:t>
            </a:r>
            <a:r>
              <a:rPr lang="en-US" dirty="0"/>
              <a:t> to update, test, and maintain individual components.</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35</a:t>
            </a:fld>
            <a:endParaRPr lang="en-US"/>
          </a:p>
        </p:txBody>
      </p:sp>
    </p:spTree>
    <p:extLst>
      <p:ext uri="{BB962C8B-B14F-4D97-AF65-F5344CB8AC3E}">
        <p14:creationId xmlns:p14="http://schemas.microsoft.com/office/powerpoint/2010/main" val="2995803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Presentation Layer (UI/UX)</a:t>
            </a:r>
          </a:p>
          <a:p>
            <a:pPr>
              <a:buFont typeface="Arial" panose="020B0604020202020204" pitchFamily="34" charset="0"/>
              <a:buChar char="•"/>
            </a:pPr>
            <a:r>
              <a:rPr lang="en-US" b="1" dirty="0"/>
              <a:t>Role</a:t>
            </a:r>
            <a:r>
              <a:rPr lang="en-US" dirty="0"/>
              <a:t>: Interacts with the end user.</a:t>
            </a:r>
          </a:p>
          <a:p>
            <a:pPr>
              <a:buFont typeface="Arial" panose="020B0604020202020204" pitchFamily="34" charset="0"/>
              <a:buChar char="•"/>
            </a:pPr>
            <a:r>
              <a:rPr lang="en-US" b="1" dirty="0"/>
              <a:t>Example</a:t>
            </a:r>
            <a:r>
              <a:rPr lang="en-US" dirty="0"/>
              <a:t>:</a:t>
            </a:r>
          </a:p>
          <a:p>
            <a:pPr marL="742950" lvl="1" indent="-285750">
              <a:buFont typeface="Arial" panose="020B0604020202020204" pitchFamily="34" charset="0"/>
              <a:buChar char="•"/>
            </a:pPr>
            <a:r>
              <a:rPr lang="en-US" dirty="0"/>
              <a:t>A customer accesses the shopping platform using a web browser or mobile app.</a:t>
            </a:r>
          </a:p>
          <a:p>
            <a:pPr marL="742950" lvl="1" indent="-285750">
              <a:buFont typeface="Arial" panose="020B0604020202020204" pitchFamily="34" charset="0"/>
              <a:buChar char="•"/>
            </a:pPr>
            <a:r>
              <a:rPr lang="en-US" dirty="0"/>
              <a:t>Pages display product catalogs, shopping cart, and checkout forms. PASSWORD AND RE PASSWORD CHECK VAIRAKO HUNXA</a:t>
            </a:r>
          </a:p>
          <a:p>
            <a:pPr marL="742950" lvl="1" indent="-285750">
              <a:buFont typeface="Arial" panose="020B0604020202020204" pitchFamily="34" charset="0"/>
              <a:buChar char="•"/>
            </a:pPr>
            <a:r>
              <a:rPr lang="en-US" dirty="0"/>
              <a:t>Technologies: React, Angular, HTML, CSS, JavaScript, or mobile frameworks like Flutter.</a:t>
            </a:r>
          </a:p>
          <a:p>
            <a:r>
              <a:rPr lang="en-US" b="1" dirty="0"/>
              <a:t>2. Application Layer (Service Layer)</a:t>
            </a:r>
          </a:p>
          <a:p>
            <a:pPr>
              <a:buFont typeface="Arial" panose="020B0604020202020204" pitchFamily="34" charset="0"/>
              <a:buChar char="•"/>
            </a:pPr>
            <a:r>
              <a:rPr lang="en-US" b="1" dirty="0"/>
              <a:t>Role</a:t>
            </a:r>
            <a:r>
              <a:rPr lang="en-US" dirty="0"/>
              <a:t>: Processes user requests and coordinates actions between layers.</a:t>
            </a:r>
          </a:p>
          <a:p>
            <a:pPr>
              <a:buFont typeface="Arial" panose="020B0604020202020204" pitchFamily="34" charset="0"/>
              <a:buChar char="•"/>
            </a:pPr>
            <a:r>
              <a:rPr lang="en-US" b="1" dirty="0"/>
              <a:t>Example</a:t>
            </a:r>
            <a:r>
              <a:rPr lang="en-US" dirty="0"/>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Handles actions such as "Search for a product," "Add to cart," or "Place an </a:t>
            </a:r>
            <a:r>
              <a:rPr lang="en-US" dirty="0" err="1"/>
              <a:t>order.“PASSWORD</a:t>
            </a:r>
            <a:r>
              <a:rPr lang="en-US" dirty="0"/>
              <a:t> AND RE PASSWORD CHECK VAIRAKO HUNXA</a:t>
            </a:r>
          </a:p>
          <a:p>
            <a:pPr marL="742950" lvl="1" indent="-285750">
              <a:buFont typeface="Arial" panose="020B0604020202020204" pitchFamily="34" charset="0"/>
              <a:buChar char="•"/>
            </a:pPr>
            <a:r>
              <a:rPr lang="en-US" dirty="0"/>
              <a:t>Ensures that user inputs (e.g., selected items) are validated and processed correctly.</a:t>
            </a:r>
          </a:p>
          <a:p>
            <a:pPr marL="742950" lvl="1" indent="-285750">
              <a:buFont typeface="Arial" panose="020B0604020202020204" pitchFamily="34" charset="0"/>
              <a:buChar char="•"/>
            </a:pPr>
            <a:r>
              <a:rPr lang="en-US" dirty="0"/>
              <a:t>Implements APIs that the front-end (presentation layer) calls.</a:t>
            </a:r>
          </a:p>
          <a:p>
            <a:pPr marL="742950" lvl="1" indent="-285750">
              <a:buFont typeface="Arial" panose="020B0604020202020204" pitchFamily="34" charset="0"/>
              <a:buChar char="•"/>
            </a:pPr>
            <a:r>
              <a:rPr lang="en-US" dirty="0"/>
              <a:t>Technologies: REST APIs or </a:t>
            </a:r>
            <a:r>
              <a:rPr lang="en-US" dirty="0" err="1"/>
              <a:t>GraphQL</a:t>
            </a:r>
            <a:r>
              <a:rPr lang="en-US" dirty="0"/>
              <a:t> services implemented in Node.js, Java (Spring Boot), or Python (Django/Flask).</a:t>
            </a:r>
          </a:p>
          <a:p>
            <a:r>
              <a:rPr lang="en-US" b="1" dirty="0"/>
              <a:t>3. Domain Layer (Business Logic Layer)</a:t>
            </a:r>
          </a:p>
          <a:p>
            <a:pPr>
              <a:buFont typeface="Arial" panose="020B0604020202020204" pitchFamily="34" charset="0"/>
              <a:buChar char="•"/>
            </a:pPr>
            <a:r>
              <a:rPr lang="en-US" b="1" dirty="0"/>
              <a:t>Role</a:t>
            </a:r>
            <a:r>
              <a:rPr lang="en-US" dirty="0"/>
              <a:t>: Contains the core logic and rules of the application.</a:t>
            </a:r>
          </a:p>
          <a:p>
            <a:pPr>
              <a:buFont typeface="Arial" panose="020B0604020202020204" pitchFamily="34" charset="0"/>
              <a:buChar char="•"/>
            </a:pPr>
            <a:r>
              <a:rPr lang="en-US" b="1" dirty="0"/>
              <a:t>Example</a:t>
            </a:r>
            <a:r>
              <a:rPr lang="en-US" dirty="0"/>
              <a:t>:</a:t>
            </a:r>
          </a:p>
          <a:p>
            <a:pPr marL="742950" lvl="1" indent="-285750">
              <a:buFont typeface="Arial" panose="020B0604020202020204" pitchFamily="34" charset="0"/>
              <a:buChar char="•"/>
            </a:pPr>
            <a:r>
              <a:rPr lang="en-US" dirty="0"/>
              <a:t>Rules such as "Check stock availability before adding an item to the cart" or "Apply discounts based on promotion codes."</a:t>
            </a:r>
          </a:p>
          <a:p>
            <a:pPr marL="742950" lvl="1" indent="-285750">
              <a:buFont typeface="Arial" panose="020B0604020202020204" pitchFamily="34" charset="0"/>
              <a:buChar char="•"/>
            </a:pPr>
            <a:r>
              <a:rPr lang="en-US" dirty="0"/>
              <a:t>Business entities like Product, User, Order, and Payment are defined here with their behavior.</a:t>
            </a:r>
          </a:p>
          <a:p>
            <a:pPr marL="742950" lvl="1" indent="-285750">
              <a:buFont typeface="Arial" panose="020B0604020202020204" pitchFamily="34" charset="0"/>
              <a:buChar char="•"/>
            </a:pPr>
            <a:r>
              <a:rPr lang="en-US" dirty="0"/>
              <a:t>Technologies: Pure business logic implemented in programming languages like Java, Python, or C#.</a:t>
            </a:r>
          </a:p>
          <a:p>
            <a:r>
              <a:rPr lang="en-US" b="1" dirty="0"/>
              <a:t>4. Data Access Layer (Persistence Layer)</a:t>
            </a:r>
          </a:p>
          <a:p>
            <a:pPr>
              <a:buFont typeface="Arial" panose="020B0604020202020204" pitchFamily="34" charset="0"/>
              <a:buChar char="•"/>
            </a:pPr>
            <a:r>
              <a:rPr lang="en-US" b="1" dirty="0"/>
              <a:t>Role</a:t>
            </a:r>
            <a:r>
              <a:rPr lang="en-US" dirty="0"/>
              <a:t>: Manages data storage and retrieval.</a:t>
            </a:r>
          </a:p>
          <a:p>
            <a:pPr>
              <a:buFont typeface="Arial" panose="020B0604020202020204" pitchFamily="34" charset="0"/>
              <a:buChar char="•"/>
            </a:pPr>
            <a:r>
              <a:rPr lang="en-US" b="1" dirty="0"/>
              <a:t>Example</a:t>
            </a:r>
            <a:r>
              <a:rPr lang="en-US" dirty="0"/>
              <a:t>:</a:t>
            </a:r>
          </a:p>
          <a:p>
            <a:pPr marL="742950" lvl="1" indent="-285750">
              <a:buFont typeface="Arial" panose="020B0604020202020204" pitchFamily="34" charset="0"/>
              <a:buChar char="•"/>
            </a:pPr>
            <a:r>
              <a:rPr lang="en-US" dirty="0"/>
              <a:t>Fetches product details from the database when the user searches.</a:t>
            </a:r>
          </a:p>
          <a:p>
            <a:pPr marL="742950" lvl="1" indent="-285750">
              <a:buFont typeface="Arial" panose="020B0604020202020204" pitchFamily="34" charset="0"/>
              <a:buChar char="•"/>
            </a:pPr>
            <a:r>
              <a:rPr lang="en-US" dirty="0"/>
              <a:t>Saves the user's order details to the database when they check out.</a:t>
            </a:r>
          </a:p>
          <a:p>
            <a:pPr marL="742950" lvl="1" indent="-285750">
              <a:buFont typeface="Arial" panose="020B0604020202020204" pitchFamily="34" charset="0"/>
              <a:buChar char="•"/>
            </a:pPr>
            <a:r>
              <a:rPr lang="en-US" dirty="0"/>
              <a:t>Technologies: SQL or NoSQL databases like MySQL, PostgreSQL, MongoDB, or DynamoDB.</a:t>
            </a:r>
          </a:p>
          <a:p>
            <a:pPr marL="742950" lvl="1" indent="-285750">
              <a:buFont typeface="Arial" panose="020B0604020202020204" pitchFamily="34" charset="0"/>
              <a:buChar char="•"/>
            </a:pPr>
            <a:r>
              <a:rPr lang="en-US" dirty="0"/>
              <a:t>Tools: ORMs such as Hibernate, Entity Framework, or </a:t>
            </a:r>
            <a:r>
              <a:rPr lang="en-US" dirty="0" err="1"/>
              <a:t>Sequelize</a:t>
            </a:r>
            <a:r>
              <a:rPr lang="en-US" dirty="0"/>
              <a:t>.</a:t>
            </a:r>
          </a:p>
          <a:p>
            <a:r>
              <a:rPr lang="en-US" b="1" dirty="0"/>
              <a:t>5. Infrastructure Layer (Optional)</a:t>
            </a:r>
          </a:p>
          <a:p>
            <a:pPr>
              <a:buFont typeface="Arial" panose="020B0604020202020204" pitchFamily="34" charset="0"/>
              <a:buChar char="•"/>
            </a:pPr>
            <a:r>
              <a:rPr lang="en-US" b="1" dirty="0"/>
              <a:t>Role</a:t>
            </a:r>
            <a:r>
              <a:rPr lang="en-US" dirty="0"/>
              <a:t>: Provides foundational services that support other layers.</a:t>
            </a:r>
          </a:p>
          <a:p>
            <a:pPr>
              <a:buFont typeface="Arial" panose="020B0604020202020204" pitchFamily="34" charset="0"/>
              <a:buChar char="•"/>
            </a:pPr>
            <a:r>
              <a:rPr lang="en-US" b="1" dirty="0"/>
              <a:t>Example</a:t>
            </a:r>
            <a:r>
              <a:rPr lang="en-US" dirty="0"/>
              <a:t>:</a:t>
            </a:r>
          </a:p>
          <a:p>
            <a:pPr marL="742950" lvl="1" indent="-285750">
              <a:buFont typeface="Arial" panose="020B0604020202020204" pitchFamily="34" charset="0"/>
              <a:buChar char="•"/>
            </a:pPr>
            <a:r>
              <a:rPr lang="en-US" dirty="0"/>
              <a:t>Sending email notifications for order confirmations.</a:t>
            </a:r>
          </a:p>
          <a:p>
            <a:pPr marL="742950" lvl="1" indent="-285750">
              <a:buFont typeface="Arial" panose="020B0604020202020204" pitchFamily="34" charset="0"/>
              <a:buChar char="•"/>
            </a:pPr>
            <a:r>
              <a:rPr lang="en-US" dirty="0"/>
              <a:t>Logging errors or tracking user behavior.</a:t>
            </a:r>
          </a:p>
          <a:p>
            <a:pPr marL="742950" lvl="1" indent="-285750">
              <a:buFont typeface="Arial" panose="020B0604020202020204" pitchFamily="34" charset="0"/>
              <a:buChar char="•"/>
            </a:pPr>
            <a:r>
              <a:rPr lang="en-US" dirty="0"/>
              <a:t>Integrating with third-party systems like payment gateways (Stripe, PayPal).</a:t>
            </a:r>
          </a:p>
          <a:p>
            <a:pPr marL="742950" lvl="1" indent="-285750">
              <a:buFont typeface="Arial" panose="020B0604020202020204" pitchFamily="34" charset="0"/>
              <a:buChar char="•"/>
            </a:pPr>
            <a:r>
              <a:rPr lang="en-US" dirty="0"/>
              <a:t>Technologies: RabbitMQ for messaging, Elasticsearch for logging, AWS or Azure services for hosting.</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36</a:t>
            </a:fld>
            <a:endParaRPr lang="en-US"/>
          </a:p>
        </p:txBody>
      </p:sp>
    </p:spTree>
    <p:extLst>
      <p:ext uri="{BB962C8B-B14F-4D97-AF65-F5344CB8AC3E}">
        <p14:creationId xmlns:p14="http://schemas.microsoft.com/office/powerpoint/2010/main" val="3831854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When to Use</a:t>
            </a:r>
          </a:p>
          <a:p>
            <a:pPr>
              <a:buFont typeface="Arial" panose="020B0604020202020204" pitchFamily="34" charset="0"/>
              <a:buChar char="•"/>
            </a:pPr>
            <a:r>
              <a:rPr lang="en-US" dirty="0"/>
              <a:t>For applications needing clear separation of concerns (e.g., UI, business logic, and data).</a:t>
            </a:r>
          </a:p>
          <a:p>
            <a:pPr>
              <a:buFont typeface="Arial" panose="020B0604020202020204" pitchFamily="34" charset="0"/>
              <a:buChar char="•"/>
            </a:pPr>
            <a:r>
              <a:rPr lang="en-US" dirty="0"/>
              <a:t>When scalability, maintainability, and testability are priorities.</a:t>
            </a:r>
          </a:p>
          <a:p>
            <a:pPr>
              <a:buFont typeface="Arial" panose="020B0604020202020204" pitchFamily="34" charset="0"/>
              <a:buChar char="•"/>
            </a:pPr>
            <a:r>
              <a:rPr lang="en-US" dirty="0"/>
              <a:t>For large teams working on separate components.</a:t>
            </a:r>
          </a:p>
          <a:p>
            <a:pPr>
              <a:buFont typeface="Arial" panose="020B0604020202020204" pitchFamily="34" charset="0"/>
              <a:buChar char="•"/>
            </a:pPr>
            <a:r>
              <a:rPr lang="en-US" dirty="0"/>
              <a:t>In long-term projects expected to evolve over time.</a:t>
            </a:r>
          </a:p>
          <a:p>
            <a:pPr>
              <a:buFont typeface="Arial" panose="020B0604020202020204" pitchFamily="34" charset="0"/>
              <a:buChar char="•"/>
            </a:pPr>
            <a:r>
              <a:rPr lang="en-US" dirty="0"/>
              <a:t>Best suited for web and enterprise systems using standard frameworks.</a:t>
            </a:r>
          </a:p>
          <a:p>
            <a:pPr>
              <a:buFont typeface="Arial" panose="020B0604020202020204" pitchFamily="34" charset="0"/>
              <a:buChar char="•"/>
            </a:pPr>
            <a:endParaRPr lang="en-US" dirty="0"/>
          </a:p>
          <a:p>
            <a:r>
              <a:rPr lang="en-US" b="1" dirty="0"/>
              <a:t>Disadvantages</a:t>
            </a:r>
          </a:p>
          <a:p>
            <a:pPr>
              <a:buFont typeface="Arial" panose="020B0604020202020204" pitchFamily="34" charset="0"/>
              <a:buChar char="•"/>
            </a:pPr>
            <a:r>
              <a:rPr lang="en-US" dirty="0"/>
              <a:t>Introduces performance overhead due to inter-layer communication.</a:t>
            </a:r>
          </a:p>
          <a:p>
            <a:pPr>
              <a:buFont typeface="Arial" panose="020B0604020202020204" pitchFamily="34" charset="0"/>
              <a:buChar char="•"/>
            </a:pPr>
            <a:r>
              <a:rPr lang="en-US" dirty="0"/>
              <a:t>Can overcomplicate simple systems.</a:t>
            </a:r>
          </a:p>
          <a:p>
            <a:pPr>
              <a:buFont typeface="Arial" panose="020B0604020202020204" pitchFamily="34" charset="0"/>
              <a:buChar char="•"/>
            </a:pPr>
            <a:r>
              <a:rPr lang="en-US" dirty="0"/>
              <a:t>Cross-layer changes require significant effort.</a:t>
            </a:r>
          </a:p>
          <a:p>
            <a:pPr>
              <a:buFont typeface="Arial" panose="020B0604020202020204" pitchFamily="34" charset="0"/>
              <a:buChar char="•"/>
            </a:pPr>
            <a:r>
              <a:rPr lang="en-US" dirty="0"/>
              <a:t>Risks tight coupling if layers are not properly isolated.</a:t>
            </a:r>
          </a:p>
          <a:p>
            <a:pPr>
              <a:buFont typeface="Arial" panose="020B0604020202020204" pitchFamily="34" charset="0"/>
              <a:buChar char="•"/>
            </a:pPr>
            <a:r>
              <a:rPr lang="en-US" dirty="0"/>
              <a:t>Initial setup requires more time and planning.</a:t>
            </a:r>
          </a:p>
          <a:p>
            <a:pPr>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37</a:t>
            </a:fld>
            <a:endParaRPr lang="en-US"/>
          </a:p>
        </p:txBody>
      </p:sp>
    </p:spTree>
    <p:extLst>
      <p:ext uri="{BB962C8B-B14F-4D97-AF65-F5344CB8AC3E}">
        <p14:creationId xmlns:p14="http://schemas.microsoft.com/office/powerpoint/2010/main" val="2068732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Enterprise Data Warehouses (e.g., Snowflake, Amazon Redshift)</a:t>
            </a:r>
            <a:endParaRPr lang="en-US" dirty="0"/>
          </a:p>
          <a:p>
            <a:pPr>
              <a:buFont typeface="Arial" panose="020B0604020202020204" pitchFamily="34" charset="0"/>
              <a:buChar char="•"/>
            </a:pPr>
            <a:r>
              <a:rPr lang="en-US" b="1" dirty="0"/>
              <a:t>Repository</a:t>
            </a:r>
            <a:r>
              <a:rPr lang="en-US" dirty="0"/>
              <a:t>: Centralized data storage for business intelligence and analytics.</a:t>
            </a:r>
          </a:p>
          <a:p>
            <a:pPr>
              <a:buFont typeface="Arial" panose="020B0604020202020204" pitchFamily="34" charset="0"/>
              <a:buChar char="•"/>
            </a:pPr>
            <a:r>
              <a:rPr lang="en-US" b="1" dirty="0"/>
              <a:t>Usage</a:t>
            </a:r>
            <a:r>
              <a:rPr lang="en-US" dirty="0"/>
              <a:t>: Multiple teams access the repository to generate reports, perform queries, and derive insights.</a:t>
            </a:r>
          </a:p>
          <a:p>
            <a:r>
              <a:rPr lang="en-US" b="1" dirty="0"/>
              <a:t>Content Management Systems (e.g., WordPress, Drupal)</a:t>
            </a:r>
            <a:endParaRPr lang="en-US" dirty="0"/>
          </a:p>
          <a:p>
            <a:pPr>
              <a:buFont typeface="Arial" panose="020B0604020202020204" pitchFamily="34" charset="0"/>
              <a:buChar char="•"/>
            </a:pPr>
            <a:r>
              <a:rPr lang="en-US" b="1" dirty="0"/>
              <a:t>Repository</a:t>
            </a:r>
            <a:r>
              <a:rPr lang="en-US" dirty="0"/>
              <a:t>: Central database storing website content, user data, and metadata.</a:t>
            </a:r>
          </a:p>
          <a:p>
            <a:pPr>
              <a:buFont typeface="Arial" panose="020B0604020202020204" pitchFamily="34" charset="0"/>
              <a:buChar char="•"/>
            </a:pPr>
            <a:r>
              <a:rPr lang="en-US" b="1" dirty="0"/>
              <a:t>Usage</a:t>
            </a:r>
            <a:r>
              <a:rPr lang="en-US" dirty="0"/>
              <a:t>: Editors, plugins, and users interact with the central repository to create, update, or retrieve content.</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38</a:t>
            </a:fld>
            <a:endParaRPr lang="en-US"/>
          </a:p>
        </p:txBody>
      </p:sp>
    </p:spTree>
    <p:extLst>
      <p:ext uri="{BB962C8B-B14F-4D97-AF65-F5344CB8AC3E}">
        <p14:creationId xmlns:p14="http://schemas.microsoft.com/office/powerpoint/2010/main" val="2492751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Small or Rapid Development</a:t>
            </a:r>
            <a:r>
              <a:rPr lang="en-US" dirty="0"/>
              <a:t>: Use Python, Ruby, or Node.js.</a:t>
            </a:r>
          </a:p>
          <a:p>
            <a:r>
              <a:rPr lang="en-US" b="1" dirty="0"/>
              <a:t>Enterprise Applications</a:t>
            </a:r>
            <a:r>
              <a:rPr lang="en-US" dirty="0"/>
              <a:t>: Use Java, C#, or Kotlin.</a:t>
            </a:r>
          </a:p>
          <a:p>
            <a:r>
              <a:rPr lang="en-US" b="1" dirty="0"/>
              <a:t>Performance-Critical Systems</a:t>
            </a:r>
            <a:r>
              <a:rPr lang="en-US" dirty="0"/>
              <a:t>: Use Go, Rust, or C++.</a:t>
            </a:r>
          </a:p>
          <a:p>
            <a:r>
              <a:rPr lang="en-US" b="1" dirty="0"/>
              <a:t>Web-Based Repositories</a:t>
            </a:r>
            <a:r>
              <a:rPr lang="en-US" dirty="0"/>
              <a:t>: Use Node.js, Python, or Ruby.</a:t>
            </a:r>
          </a:p>
          <a:p>
            <a:r>
              <a:rPr lang="en-US" b="1" dirty="0"/>
              <a:t>Cross-Platform or Cloud-Native</a:t>
            </a:r>
            <a:r>
              <a:rPr lang="en-US" dirty="0"/>
              <a:t>: Use Go or Rust.</a:t>
            </a:r>
          </a:p>
        </p:txBody>
      </p:sp>
      <p:sp>
        <p:nvSpPr>
          <p:cNvPr id="4" name="Slide Number Placeholder 3"/>
          <p:cNvSpPr>
            <a:spLocks noGrp="1"/>
          </p:cNvSpPr>
          <p:nvPr>
            <p:ph type="sldNum" sz="quarter" idx="5"/>
          </p:nvPr>
        </p:nvSpPr>
        <p:spPr/>
        <p:txBody>
          <a:bodyPr/>
          <a:lstStyle/>
          <a:p>
            <a:fld id="{9910BE80-B4E3-42FA-AA76-BDDCE087015A}" type="slidenum">
              <a:rPr lang="en-US" smtClean="0"/>
              <a:t>39</a:t>
            </a:fld>
            <a:endParaRPr lang="en-US"/>
          </a:p>
        </p:txBody>
      </p:sp>
    </p:spTree>
    <p:extLst>
      <p:ext uri="{BB962C8B-B14F-4D97-AF65-F5344CB8AC3E}">
        <p14:creationId xmlns:p14="http://schemas.microsoft.com/office/powerpoint/2010/main" val="3341175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Disadvantages</a:t>
            </a:r>
          </a:p>
          <a:p>
            <a:pPr>
              <a:buFont typeface="Arial" panose="020B0604020202020204" pitchFamily="34" charset="0"/>
              <a:buChar char="•"/>
            </a:pPr>
            <a:r>
              <a:rPr lang="en-US" b="1" dirty="0"/>
              <a:t>Single Point of Failure</a:t>
            </a:r>
            <a:r>
              <a:rPr lang="en-US" dirty="0"/>
              <a:t>: The repository's unavailability impacts the entire system.</a:t>
            </a:r>
          </a:p>
          <a:p>
            <a:pPr>
              <a:buFont typeface="Arial" panose="020B0604020202020204" pitchFamily="34" charset="0"/>
              <a:buChar char="•"/>
            </a:pPr>
            <a:r>
              <a:rPr lang="en-US" dirty="0"/>
              <a:t>Potential for </a:t>
            </a:r>
            <a:r>
              <a:rPr lang="en-US" b="1" dirty="0"/>
              <a:t>bottlenecks</a:t>
            </a:r>
            <a:r>
              <a:rPr lang="en-US" dirty="0"/>
              <a:t> if the repository is not optimized.</a:t>
            </a:r>
          </a:p>
          <a:p>
            <a:pPr>
              <a:buFont typeface="Arial" panose="020B0604020202020204" pitchFamily="34" charset="0"/>
              <a:buChar char="•"/>
            </a:pPr>
            <a:r>
              <a:rPr lang="en-US" dirty="0"/>
              <a:t>Increases </a:t>
            </a:r>
            <a:r>
              <a:rPr lang="en-US" b="1" dirty="0"/>
              <a:t>complexity</a:t>
            </a:r>
            <a:r>
              <a:rPr lang="en-US" dirty="0"/>
              <a:t> when managing repository synchronization in distributed systems.</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40</a:t>
            </a:fld>
            <a:endParaRPr lang="en-US"/>
          </a:p>
        </p:txBody>
      </p:sp>
    </p:spTree>
    <p:extLst>
      <p:ext uri="{BB962C8B-B14F-4D97-AF65-F5344CB8AC3E}">
        <p14:creationId xmlns:p14="http://schemas.microsoft.com/office/powerpoint/2010/main" val="4142381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for </a:t>
            </a:r>
            <a:r>
              <a:rPr lang="en-US" dirty="0" err="1"/>
              <a:t>pani</a:t>
            </a:r>
            <a:r>
              <a:rPr lang="en-US" dirty="0"/>
              <a:t> </a:t>
            </a:r>
            <a:r>
              <a:rPr lang="en-US" dirty="0" err="1"/>
              <a:t>bata</a:t>
            </a:r>
            <a:r>
              <a:rPr lang="en-US" dirty="0"/>
              <a:t> </a:t>
            </a:r>
            <a:r>
              <a:rPr lang="en-US" dirty="0" err="1"/>
              <a:t>safa</a:t>
            </a:r>
            <a:r>
              <a:rPr lang="en-US" dirty="0"/>
              <a:t> </a:t>
            </a:r>
            <a:r>
              <a:rPr lang="en-US" dirty="0" err="1"/>
              <a:t>pani</a:t>
            </a:r>
            <a:r>
              <a:rPr lang="en-US" dirty="0"/>
              <a:t> ma convert</a:t>
            </a:r>
          </a:p>
          <a:p>
            <a:r>
              <a:rPr lang="en-US" b="1" dirty="0"/>
              <a:t>Pre-Filter (Sediment Filter)</a:t>
            </a:r>
            <a:endParaRPr lang="en-US" dirty="0"/>
          </a:p>
          <a:p>
            <a:pPr>
              <a:buFont typeface="Arial" panose="020B0604020202020204" pitchFamily="34" charset="0"/>
              <a:buChar char="•"/>
            </a:pPr>
            <a:r>
              <a:rPr lang="en-US" b="1" dirty="0"/>
              <a:t>Purpose</a:t>
            </a:r>
            <a:r>
              <a:rPr lang="en-US" dirty="0"/>
              <a:t>: Removes large particles like sand, dirt, silt, and rust.</a:t>
            </a:r>
          </a:p>
          <a:p>
            <a:r>
              <a:rPr lang="en-US" b="1" dirty="0"/>
              <a:t>Carbon Filter (Activated Carbon Filter)</a:t>
            </a:r>
            <a:endParaRPr lang="en-US" dirty="0"/>
          </a:p>
          <a:p>
            <a:pPr>
              <a:buFont typeface="Arial" panose="020B0604020202020204" pitchFamily="34" charset="0"/>
              <a:buChar char="•"/>
            </a:pPr>
            <a:r>
              <a:rPr lang="en-US" b="1" dirty="0"/>
              <a:t>Purpose</a:t>
            </a:r>
            <a:r>
              <a:rPr lang="en-US" dirty="0"/>
              <a:t>: Removes chlorine, chemicals, and organic impurities that may affect taste, odor, or damage the RO membrane.</a:t>
            </a:r>
          </a:p>
          <a:p>
            <a:r>
              <a:rPr lang="en-US" b="1" dirty="0"/>
              <a:t>Post-Filter (Polishing Filter)</a:t>
            </a:r>
            <a:endParaRPr lang="en-US" dirty="0"/>
          </a:p>
          <a:p>
            <a:pPr>
              <a:buFont typeface="Arial" panose="020B0604020202020204" pitchFamily="34" charset="0"/>
              <a:buChar char="•"/>
            </a:pPr>
            <a:r>
              <a:rPr lang="en-US" b="1" dirty="0"/>
              <a:t>Purpose</a:t>
            </a:r>
            <a:r>
              <a:rPr lang="en-US" dirty="0"/>
              <a:t>: Further polishes the filtered water, improving taste by removing any remaining odors or tastes.</a:t>
            </a:r>
          </a:p>
          <a:p>
            <a:r>
              <a:rPr lang="en-US" b="1" dirty="0"/>
              <a:t>UV Filter (Optional, in some systems)</a:t>
            </a:r>
            <a:endParaRPr lang="en-US" dirty="0"/>
          </a:p>
          <a:p>
            <a:pPr>
              <a:buFont typeface="Arial" panose="020B0604020202020204" pitchFamily="34" charset="0"/>
              <a:buChar char="•"/>
            </a:pPr>
            <a:r>
              <a:rPr lang="en-US" b="1" dirty="0"/>
              <a:t>Purpose</a:t>
            </a:r>
            <a:r>
              <a:rPr lang="en-US" dirty="0"/>
              <a:t>: Kills or inactivates microorganisms such as bacteria and viruses using ultraviolet light.</a:t>
            </a:r>
          </a:p>
          <a:p>
            <a:endParaRPr lang="en-US" dirty="0"/>
          </a:p>
          <a:p>
            <a:r>
              <a:rPr lang="en-US" b="1" dirty="0"/>
              <a:t>Unix/Linux Command-Line Pipelines</a:t>
            </a:r>
            <a:r>
              <a:rPr lang="en-US" dirty="0"/>
              <a:t>:</a:t>
            </a:r>
          </a:p>
          <a:p>
            <a:pPr>
              <a:buFont typeface="Arial" panose="020B0604020202020204" pitchFamily="34" charset="0"/>
              <a:buChar char="•"/>
            </a:pPr>
            <a:r>
              <a:rPr lang="en-US" dirty="0"/>
              <a:t>Command-line tools like grep, awk, and sed are classic examples of pipe and filter architecture.</a:t>
            </a:r>
          </a:p>
          <a:p>
            <a:pPr>
              <a:buFont typeface="Arial" panose="020B0604020202020204" pitchFamily="34" charset="0"/>
              <a:buChar char="•"/>
            </a:pPr>
            <a:r>
              <a:rPr lang="en-US" dirty="0"/>
              <a:t>Example: cat file.txt | grep "error" | sort | </a:t>
            </a:r>
            <a:r>
              <a:rPr lang="en-US" dirty="0" err="1"/>
              <a:t>uniq</a:t>
            </a:r>
            <a:r>
              <a:rPr lang="en-US" dirty="0"/>
              <a:t> – data flows through a sequence of commands, each filtering or transforming the data.</a:t>
            </a:r>
          </a:p>
          <a:p>
            <a:r>
              <a:rPr lang="en-US" b="1" dirty="0"/>
              <a:t>Data ETL (Extract, Transform, Load) Processes</a:t>
            </a:r>
            <a:r>
              <a:rPr lang="en-US" dirty="0"/>
              <a:t>:</a:t>
            </a:r>
          </a:p>
          <a:p>
            <a:pPr>
              <a:buFont typeface="Arial" panose="020B0604020202020204" pitchFamily="34" charset="0"/>
              <a:buChar char="•"/>
            </a:pPr>
            <a:r>
              <a:rPr lang="en-US" dirty="0"/>
              <a:t>In ETL systems, data is extracted from a source, transformed through various filters (e.g., cleaning, aggregation), and loaded into a destination like a database.</a:t>
            </a:r>
          </a:p>
          <a:p>
            <a:r>
              <a:rPr lang="en-US" b="1" dirty="0"/>
              <a:t>Audio/Video Processing</a:t>
            </a:r>
            <a:r>
              <a:rPr lang="en-US" dirty="0"/>
              <a:t>:</a:t>
            </a:r>
          </a:p>
          <a:p>
            <a:pPr>
              <a:buFont typeface="Arial" panose="020B0604020202020204" pitchFamily="34" charset="0"/>
              <a:buChar char="•"/>
            </a:pPr>
            <a:r>
              <a:rPr lang="en-US" dirty="0"/>
              <a:t>Audio or video editing tools often use a pipeline of filters (e.g., applying effects, filters, and transformations to the media).</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41</a:t>
            </a:fld>
            <a:endParaRPr lang="en-US"/>
          </a:p>
        </p:txBody>
      </p:sp>
    </p:spTree>
    <p:extLst>
      <p:ext uri="{BB962C8B-B14F-4D97-AF65-F5344CB8AC3E}">
        <p14:creationId xmlns:p14="http://schemas.microsoft.com/office/powerpoint/2010/main" val="25875663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Scenario</a:t>
            </a:r>
            <a:r>
              <a:rPr lang="en-US" dirty="0"/>
              <a:t>: An image processing system.</a:t>
            </a:r>
          </a:p>
          <a:p>
            <a:pPr>
              <a:buFont typeface="+mj-lt"/>
              <a:buAutoNum type="arabicPeriod"/>
            </a:pPr>
            <a:r>
              <a:rPr lang="en-US" b="1" dirty="0"/>
              <a:t>Filter 1</a:t>
            </a:r>
            <a:r>
              <a:rPr lang="en-US" dirty="0"/>
              <a:t>: Load Image – Loads the image from a file into memory.</a:t>
            </a:r>
          </a:p>
          <a:p>
            <a:pPr>
              <a:buFont typeface="+mj-lt"/>
              <a:buAutoNum type="arabicPeriod"/>
            </a:pPr>
            <a:r>
              <a:rPr lang="en-US" b="1" dirty="0"/>
              <a:t>Filter 2</a:t>
            </a:r>
            <a:r>
              <a:rPr lang="en-US" dirty="0"/>
              <a:t>: Resize – Resizes the image to a specified dimension.</a:t>
            </a:r>
          </a:p>
          <a:p>
            <a:pPr>
              <a:buFont typeface="+mj-lt"/>
              <a:buAutoNum type="arabicPeriod"/>
            </a:pPr>
            <a:r>
              <a:rPr lang="en-US" b="1" dirty="0"/>
              <a:t>Filter 3</a:t>
            </a:r>
            <a:r>
              <a:rPr lang="en-US" dirty="0"/>
              <a:t>: Apply Filter – Applies a color filter or effect (e.g., grayscale).</a:t>
            </a:r>
          </a:p>
          <a:p>
            <a:pPr>
              <a:buFont typeface="+mj-lt"/>
              <a:buAutoNum type="arabicPeriod"/>
            </a:pPr>
            <a:r>
              <a:rPr lang="en-US" b="1" dirty="0"/>
              <a:t>Filter 4</a:t>
            </a:r>
            <a:r>
              <a:rPr lang="en-US" dirty="0"/>
              <a:t>: Compress – Compresses the image to reduce file size.</a:t>
            </a:r>
          </a:p>
          <a:p>
            <a:pPr>
              <a:buFont typeface="+mj-lt"/>
              <a:buAutoNum type="arabicPeriod"/>
            </a:pPr>
            <a:r>
              <a:rPr lang="en-US" b="1" dirty="0"/>
              <a:t>Filter 5</a:t>
            </a:r>
            <a:r>
              <a:rPr lang="en-US" dirty="0"/>
              <a:t>: Save – Saves the processed image to disk.</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42</a:t>
            </a:fld>
            <a:endParaRPr lang="en-US"/>
          </a:p>
        </p:txBody>
      </p:sp>
    </p:spTree>
    <p:extLst>
      <p:ext uri="{BB962C8B-B14F-4D97-AF65-F5344CB8AC3E}">
        <p14:creationId xmlns:p14="http://schemas.microsoft.com/office/powerpoint/2010/main" val="1648898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Scenario</a:t>
            </a:r>
            <a:r>
              <a:rPr lang="en-US" dirty="0"/>
              <a:t>: An image processing system.</a:t>
            </a:r>
          </a:p>
          <a:p>
            <a:pPr>
              <a:buFont typeface="+mj-lt"/>
              <a:buAutoNum type="arabicPeriod"/>
            </a:pPr>
            <a:r>
              <a:rPr lang="en-US" b="1" dirty="0"/>
              <a:t>Filter 1</a:t>
            </a:r>
            <a:r>
              <a:rPr lang="en-US" dirty="0"/>
              <a:t>: Load Image – Loads the image from a file into memory.</a:t>
            </a:r>
          </a:p>
          <a:p>
            <a:pPr>
              <a:buFont typeface="+mj-lt"/>
              <a:buAutoNum type="arabicPeriod"/>
            </a:pPr>
            <a:r>
              <a:rPr lang="en-US" b="1" dirty="0"/>
              <a:t>Filter 2</a:t>
            </a:r>
            <a:r>
              <a:rPr lang="en-US" dirty="0"/>
              <a:t>: Resize – Resizes the image to a specified dimension.</a:t>
            </a:r>
          </a:p>
          <a:p>
            <a:pPr>
              <a:buFont typeface="+mj-lt"/>
              <a:buAutoNum type="arabicPeriod"/>
            </a:pPr>
            <a:r>
              <a:rPr lang="en-US" b="1" dirty="0"/>
              <a:t>Filter 3</a:t>
            </a:r>
            <a:r>
              <a:rPr lang="en-US" dirty="0"/>
              <a:t>: Apply Filter – Applies a color filter or effect (e.g., grayscale).</a:t>
            </a:r>
          </a:p>
          <a:p>
            <a:pPr>
              <a:buFont typeface="+mj-lt"/>
              <a:buAutoNum type="arabicPeriod"/>
            </a:pPr>
            <a:r>
              <a:rPr lang="en-US" b="1" dirty="0"/>
              <a:t>Filter 4</a:t>
            </a:r>
            <a:r>
              <a:rPr lang="en-US" dirty="0"/>
              <a:t>: Compress – Compresses the image to reduce file size.</a:t>
            </a:r>
          </a:p>
          <a:p>
            <a:pPr>
              <a:buFont typeface="+mj-lt"/>
              <a:buAutoNum type="arabicPeriod"/>
            </a:pPr>
            <a:r>
              <a:rPr lang="en-US" b="1" dirty="0"/>
              <a:t>Filter 5</a:t>
            </a:r>
            <a:r>
              <a:rPr lang="en-US" dirty="0"/>
              <a:t>: Save – Saves the processed image to disk.</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43</a:t>
            </a:fld>
            <a:endParaRPr lang="en-US"/>
          </a:p>
        </p:txBody>
      </p:sp>
    </p:spTree>
    <p:extLst>
      <p:ext uri="{BB962C8B-B14F-4D97-AF65-F5344CB8AC3E}">
        <p14:creationId xmlns:p14="http://schemas.microsoft.com/office/powerpoint/2010/main" val="4433413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Model (Data and Business Logic)</a:t>
            </a:r>
          </a:p>
          <a:p>
            <a:pPr>
              <a:buFont typeface="Arial" panose="020B0604020202020204" pitchFamily="34" charset="0"/>
              <a:buChar char="•"/>
            </a:pPr>
            <a:r>
              <a:rPr lang="en-US" b="1" dirty="0"/>
              <a:t>What it does:</a:t>
            </a:r>
            <a:r>
              <a:rPr lang="en-US" dirty="0"/>
              <a:t> Handles the data and the rules of the application. It doesn’t interact directly with the user.</a:t>
            </a:r>
          </a:p>
          <a:p>
            <a:pPr>
              <a:buFont typeface="Arial" panose="020B0604020202020204" pitchFamily="34" charset="0"/>
              <a:buChar char="•"/>
            </a:pPr>
            <a:r>
              <a:rPr lang="en-US" b="1" dirty="0"/>
              <a:t>Example in the system:</a:t>
            </a:r>
            <a:endParaRPr lang="en-US" dirty="0"/>
          </a:p>
          <a:p>
            <a:pPr marL="742950" lvl="1" indent="-285750">
              <a:buFont typeface="Arial" panose="020B0604020202020204" pitchFamily="34" charset="0"/>
              <a:buChar char="•"/>
            </a:pPr>
            <a:r>
              <a:rPr lang="en-US" dirty="0"/>
              <a:t>Data: Menu items, prices, user profiles, order history.</a:t>
            </a:r>
          </a:p>
          <a:p>
            <a:pPr marL="742950" lvl="1" indent="-285750">
              <a:buFont typeface="Arial" panose="020B0604020202020204" pitchFamily="34" charset="0"/>
              <a:buChar char="•"/>
            </a:pPr>
            <a:r>
              <a:rPr lang="en-US" dirty="0"/>
              <a:t>Logic: Calculating the total price, applying discounts, updating order status (e.g., “Preparing,” “Out for Delivery”).</a:t>
            </a:r>
          </a:p>
          <a:p>
            <a:pPr marL="742950" lvl="1" indent="-285750">
              <a:buFont typeface="Arial" panose="020B0604020202020204" pitchFamily="34" charset="0"/>
              <a:buChar char="•"/>
            </a:pPr>
            <a:r>
              <a:rPr lang="en-US" dirty="0"/>
              <a:t>Database interaction: Fetching and storing menu items, user information, and orders.</a:t>
            </a:r>
          </a:p>
          <a:p>
            <a:endParaRPr lang="en-US" dirty="0"/>
          </a:p>
          <a:p>
            <a:r>
              <a:rPr lang="en-US" b="1" dirty="0"/>
              <a:t>View (User Interface)</a:t>
            </a:r>
          </a:p>
          <a:p>
            <a:pPr>
              <a:buFont typeface="Arial" panose="020B0604020202020204" pitchFamily="34" charset="0"/>
              <a:buChar char="•"/>
            </a:pPr>
            <a:r>
              <a:rPr lang="en-US" b="1" dirty="0"/>
              <a:t>What it does:</a:t>
            </a:r>
            <a:r>
              <a:rPr lang="en-US" dirty="0"/>
              <a:t> Displays the data and accepts input from the user.</a:t>
            </a:r>
          </a:p>
          <a:p>
            <a:pPr>
              <a:buFont typeface="Arial" panose="020B0604020202020204" pitchFamily="34" charset="0"/>
              <a:buChar char="•"/>
            </a:pPr>
            <a:r>
              <a:rPr lang="en-US" b="1" dirty="0"/>
              <a:t>Example in the system:</a:t>
            </a:r>
            <a:endParaRPr lang="en-US" dirty="0"/>
          </a:p>
          <a:p>
            <a:pPr marL="742950" lvl="1" indent="-285750">
              <a:buFont typeface="Arial" panose="020B0604020202020204" pitchFamily="34" charset="0"/>
              <a:buChar char="•"/>
            </a:pPr>
            <a:r>
              <a:rPr lang="en-US" dirty="0"/>
              <a:t>Mobile app or website interface where the user browses the menu, selects items, and checks out.</a:t>
            </a:r>
          </a:p>
          <a:p>
            <a:pPr marL="742950" lvl="1" indent="-285750">
              <a:buFont typeface="Arial" panose="020B0604020202020204" pitchFamily="34" charset="0"/>
              <a:buChar char="•"/>
            </a:pPr>
            <a:r>
              <a:rPr lang="en-US" dirty="0"/>
              <a:t>Visual elements like buttons, images, and text boxes.</a:t>
            </a:r>
          </a:p>
          <a:p>
            <a:pPr marL="742950" lvl="1" indent="-285750">
              <a:buFont typeface="Arial" panose="020B0604020202020204" pitchFamily="34" charset="0"/>
              <a:buChar char="•"/>
            </a:pPr>
            <a:r>
              <a:rPr lang="en-US" dirty="0"/>
              <a:t>Example view screens:</a:t>
            </a:r>
          </a:p>
          <a:p>
            <a:pPr marL="1143000" lvl="2" indent="-228600">
              <a:buFont typeface="Arial" panose="020B0604020202020204" pitchFamily="34" charset="0"/>
              <a:buChar char="•"/>
            </a:pPr>
            <a:r>
              <a:rPr lang="en-US" dirty="0"/>
              <a:t>Menu page: Displays the list of available items.</a:t>
            </a:r>
          </a:p>
          <a:p>
            <a:pPr marL="1143000" lvl="2" indent="-228600">
              <a:buFont typeface="Arial" panose="020B0604020202020204" pitchFamily="34" charset="0"/>
              <a:buChar char="•"/>
            </a:pPr>
            <a:r>
              <a:rPr lang="en-US" dirty="0"/>
              <a:t>Cart page: Shows selected items and total cost.</a:t>
            </a:r>
          </a:p>
          <a:p>
            <a:endParaRPr lang="en-US" dirty="0"/>
          </a:p>
          <a:p>
            <a:r>
              <a:rPr lang="en-US" b="1" dirty="0"/>
              <a:t>Controller (Input Logic and Coordination)</a:t>
            </a:r>
          </a:p>
          <a:p>
            <a:pPr>
              <a:buFont typeface="Arial" panose="020B0604020202020204" pitchFamily="34" charset="0"/>
              <a:buChar char="•"/>
            </a:pPr>
            <a:r>
              <a:rPr lang="en-US" b="1" dirty="0"/>
              <a:t>What it does:</a:t>
            </a:r>
            <a:r>
              <a:rPr lang="en-US" dirty="0"/>
              <a:t> Acts as an intermediary between the model and the view. It takes user input, processes it, and updates the model or view accordingly.</a:t>
            </a:r>
          </a:p>
          <a:p>
            <a:pPr>
              <a:buFont typeface="Arial" panose="020B0604020202020204" pitchFamily="34" charset="0"/>
              <a:buChar char="•"/>
            </a:pPr>
            <a:r>
              <a:rPr lang="en-US" b="1" dirty="0"/>
              <a:t>Example in the system:</a:t>
            </a:r>
            <a:endParaRPr lang="en-US" dirty="0"/>
          </a:p>
          <a:p>
            <a:pPr marL="742950" lvl="1" indent="-285750">
              <a:buFont typeface="Arial" panose="020B0604020202020204" pitchFamily="34" charset="0"/>
              <a:buChar char="•"/>
            </a:pPr>
            <a:r>
              <a:rPr lang="en-US" dirty="0"/>
              <a:t>When a user selects a menu item, the controller processes the request, updates the cart in the model, and refreshes the cart view.</a:t>
            </a:r>
          </a:p>
          <a:p>
            <a:pPr marL="742950" lvl="1" indent="-285750">
              <a:buFont typeface="Arial" panose="020B0604020202020204" pitchFamily="34" charset="0"/>
              <a:buChar char="•"/>
            </a:pPr>
            <a:r>
              <a:rPr lang="en-US" dirty="0"/>
              <a:t>When the user confirms an order, the controller sends the order details to the model, updates the database, and navigates the user to the confirmation view.</a:t>
            </a:r>
          </a:p>
          <a:p>
            <a:pPr marL="742950" lvl="1" indent="-285750">
              <a:buFont typeface="Arial" panose="020B0604020202020204" pitchFamily="34" charset="0"/>
              <a:buChar char="•"/>
            </a:pPr>
            <a:r>
              <a:rPr lang="en-US" dirty="0"/>
              <a:t>Handles user authentication and redirects to the appropriate view based on login status.</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46</a:t>
            </a:fld>
            <a:endParaRPr lang="en-US"/>
          </a:p>
        </p:txBody>
      </p:sp>
    </p:spTree>
    <p:extLst>
      <p:ext uri="{BB962C8B-B14F-4D97-AF65-F5344CB8AC3E}">
        <p14:creationId xmlns:p14="http://schemas.microsoft.com/office/powerpoint/2010/main" val="12768187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to use: (example share bazar)</a:t>
            </a:r>
          </a:p>
          <a:p>
            <a:r>
              <a:rPr lang="en-US" b="1" dirty="0"/>
              <a:t>Frequent UI Changes</a:t>
            </a:r>
            <a:r>
              <a:rPr lang="en-US" dirty="0"/>
              <a:t>: When UI requirements evolve faster than business logic.</a:t>
            </a:r>
          </a:p>
          <a:p>
            <a:r>
              <a:rPr lang="en-US" b="1" dirty="0"/>
              <a:t>Multi-platform Development</a:t>
            </a:r>
            <a:r>
              <a:rPr lang="en-US" dirty="0"/>
              <a:t>: When the same business logic (model) needs to support different interfaces (e.g., web and mobile).</a:t>
            </a:r>
          </a:p>
          <a:p>
            <a:r>
              <a:rPr lang="en-US" b="1" dirty="0"/>
              <a:t>Collaborative Development</a:t>
            </a:r>
            <a:r>
              <a:rPr lang="en-US" dirty="0"/>
              <a:t>: Teams working on separate components (e.g., UI team focuses on the View, while backend developers focus on the Model).</a:t>
            </a:r>
          </a:p>
          <a:p>
            <a:endParaRPr lang="en-US" dirty="0"/>
          </a:p>
          <a:p>
            <a:r>
              <a:rPr lang="en-US" dirty="0"/>
              <a:t>Disadvantages :</a:t>
            </a:r>
          </a:p>
          <a:p>
            <a:r>
              <a:rPr lang="en-US" b="1" dirty="0"/>
              <a:t>3. Tight Coupling Between View and Controller</a:t>
            </a:r>
          </a:p>
          <a:p>
            <a:pPr>
              <a:buFont typeface="Arial" panose="020B0604020202020204" pitchFamily="34" charset="0"/>
              <a:buChar char="•"/>
            </a:pPr>
            <a:r>
              <a:rPr lang="en-US" dirty="0"/>
              <a:t>Controllers often have logic tied closely to specific Views, which can make switching Views harder than expected.</a:t>
            </a:r>
          </a:p>
          <a:p>
            <a:r>
              <a:rPr lang="en-US" b="1" dirty="0"/>
              <a:t>4. Overhead in Development</a:t>
            </a:r>
          </a:p>
          <a:p>
            <a:pPr>
              <a:buFont typeface="Arial" panose="020B0604020202020204" pitchFamily="34" charset="0"/>
              <a:buChar char="•"/>
            </a:pPr>
            <a:r>
              <a:rPr lang="en-US" dirty="0"/>
              <a:t>Implementing and maintaining three separate components can increase development time.</a:t>
            </a:r>
          </a:p>
          <a:p>
            <a:r>
              <a:rPr lang="en-US" b="1" dirty="0"/>
              <a:t>5. Difficult Debugging</a:t>
            </a:r>
          </a:p>
          <a:p>
            <a:pPr>
              <a:buFont typeface="Arial" panose="020B0604020202020204" pitchFamily="34" charset="0"/>
              <a:buChar char="•"/>
            </a:pPr>
            <a:r>
              <a:rPr lang="en-US" dirty="0"/>
              <a:t>Tracing a bug can be challenging because the flow of data spans multiple components.</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48</a:t>
            </a:fld>
            <a:endParaRPr lang="en-US"/>
          </a:p>
        </p:txBody>
      </p:sp>
    </p:spTree>
    <p:extLst>
      <p:ext uri="{BB962C8B-B14F-4D97-AF65-F5344CB8AC3E}">
        <p14:creationId xmlns:p14="http://schemas.microsoft.com/office/powerpoint/2010/main" val="27618956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 is a design paradigm that organizes software components (services) to provide reusable functionality through a common communication mechanism, typically using an Enterprise Service Bus (ESB).</a:t>
            </a:r>
          </a:p>
          <a:p>
            <a:r>
              <a:rPr lang="en-US" dirty="0"/>
              <a:t>An </a:t>
            </a:r>
            <a:r>
              <a:rPr lang="en-US" b="1" dirty="0"/>
              <a:t>Enterprise Service Bus (ESB)</a:t>
            </a:r>
            <a:r>
              <a:rPr lang="en-US" dirty="0"/>
              <a:t> is a middleware technology used in </a:t>
            </a:r>
            <a:r>
              <a:rPr lang="en-US" b="1" dirty="0"/>
              <a:t>Service-Oriented Architecture (SOA)</a:t>
            </a:r>
            <a:r>
              <a:rPr lang="en-US" dirty="0"/>
              <a:t> to enable communication and integration between various services, applications, and systems within an enterprise. It acts as a central hub that facilitates the routing, transformation, and orchestration of data across distributed systems.</a:t>
            </a:r>
          </a:p>
          <a:p>
            <a:r>
              <a:rPr lang="en-US" b="1" dirty="0"/>
              <a:t>Characteristics:</a:t>
            </a:r>
          </a:p>
          <a:p>
            <a:pPr>
              <a:buFont typeface="+mj-lt"/>
              <a:buAutoNum type="arabicPeriod"/>
            </a:pPr>
            <a:r>
              <a:rPr lang="en-US" b="1" dirty="0"/>
              <a:t>Centralized Communication:</a:t>
            </a:r>
            <a:r>
              <a:rPr lang="en-US" dirty="0"/>
              <a:t> Often relies on an ESB for coordinating service interactions.</a:t>
            </a:r>
          </a:p>
          <a:p>
            <a:pPr>
              <a:buFont typeface="+mj-lt"/>
              <a:buAutoNum type="arabicPeriod"/>
            </a:pPr>
            <a:r>
              <a:rPr lang="en-US" b="1" dirty="0"/>
              <a:t>Reusable Services:</a:t>
            </a:r>
            <a:r>
              <a:rPr lang="en-US" dirty="0"/>
              <a:t> Emphasizes reusability of services across different systems.</a:t>
            </a:r>
          </a:p>
          <a:p>
            <a:r>
              <a:rPr lang="en-US" b="1" dirty="0"/>
              <a:t>Disadvantages:</a:t>
            </a:r>
          </a:p>
          <a:p>
            <a:pPr>
              <a:buFont typeface="Arial" panose="020B0604020202020204" pitchFamily="34" charset="0"/>
              <a:buChar char="•"/>
            </a:pPr>
            <a:r>
              <a:rPr lang="en-US" b="1" dirty="0"/>
              <a:t>Complexity:</a:t>
            </a:r>
            <a:r>
              <a:rPr lang="en-US" dirty="0"/>
              <a:t> The use of ESB and heavyweight protocols can make it complex to implement and maintain.</a:t>
            </a:r>
          </a:p>
          <a:p>
            <a:pPr>
              <a:buFont typeface="Arial" panose="020B0604020202020204" pitchFamily="34" charset="0"/>
              <a:buChar char="•"/>
            </a:pPr>
            <a:r>
              <a:rPr lang="en-US" b="1" dirty="0"/>
              <a:t>Tight Coupling:</a:t>
            </a:r>
            <a:r>
              <a:rPr lang="en-US" dirty="0"/>
              <a:t> Often creates dependencies between services and the ESB.</a:t>
            </a:r>
          </a:p>
          <a:p>
            <a:pPr>
              <a:buFont typeface="Arial" panose="020B0604020202020204" pitchFamily="34" charset="0"/>
              <a:buChar char="•"/>
            </a:pPr>
            <a:r>
              <a:rPr lang="en-US" b="1" dirty="0"/>
              <a:t>Performance Overhead:</a:t>
            </a:r>
            <a:r>
              <a:rPr lang="en-US" dirty="0"/>
              <a:t> Centralized communication and large payloads can lead to latency.</a:t>
            </a:r>
          </a:p>
          <a:p>
            <a:endParaRPr lang="en-US" dirty="0"/>
          </a:p>
          <a:p>
            <a:endParaRPr lang="en-US" dirty="0"/>
          </a:p>
          <a:p>
            <a:r>
              <a:rPr lang="en-US" dirty="0"/>
              <a:t>Microservices architecture structures an application as a collection of small, independent, and loosely coupled services, each focusing on a single business function.</a:t>
            </a:r>
          </a:p>
          <a:p>
            <a:r>
              <a:rPr lang="en-US" b="1" dirty="0"/>
              <a:t>Characteristics:</a:t>
            </a:r>
          </a:p>
          <a:p>
            <a:pPr>
              <a:buFont typeface="+mj-lt"/>
              <a:buAutoNum type="arabicPeriod"/>
            </a:pPr>
            <a:r>
              <a:rPr lang="en-US" b="1" dirty="0"/>
              <a:t>Decentralized Communication:</a:t>
            </a:r>
            <a:r>
              <a:rPr lang="en-US" dirty="0"/>
              <a:t> Each service communicates directly with others, often via lightweight protocols like REST, </a:t>
            </a:r>
            <a:r>
              <a:rPr lang="en-US" dirty="0" err="1"/>
              <a:t>gRPC</a:t>
            </a:r>
            <a:r>
              <a:rPr lang="en-US" dirty="0"/>
              <a:t>, or messaging queues.</a:t>
            </a:r>
          </a:p>
          <a:p>
            <a:pPr>
              <a:buFont typeface="+mj-lt"/>
              <a:buAutoNum type="arabicPeriod"/>
            </a:pPr>
            <a:r>
              <a:rPr lang="en-US" b="1" dirty="0"/>
              <a:t>Single Responsibility:</a:t>
            </a:r>
            <a:r>
              <a:rPr lang="en-US" dirty="0"/>
              <a:t> Each microservice focuses on a specific business capability.</a:t>
            </a:r>
          </a:p>
          <a:p>
            <a:pPr>
              <a:buFont typeface="+mj-lt"/>
              <a:buAutoNum type="arabicPeriod"/>
            </a:pPr>
            <a:r>
              <a:rPr lang="en-US" b="1" dirty="0"/>
              <a:t>Independence:</a:t>
            </a:r>
            <a:r>
              <a:rPr lang="en-US" dirty="0"/>
              <a:t> Services are independently deployable and scalable.</a:t>
            </a:r>
          </a:p>
          <a:p>
            <a:pPr>
              <a:buFont typeface="+mj-lt"/>
              <a:buAutoNum type="arabicPeriod"/>
            </a:pPr>
            <a:r>
              <a:rPr lang="en-US" b="1" dirty="0"/>
              <a:t>Diverse Technology Stack:</a:t>
            </a:r>
            <a:r>
              <a:rPr lang="en-US" dirty="0"/>
              <a:t> Services can use different technologies and languages.</a:t>
            </a:r>
          </a:p>
          <a:p>
            <a:endParaRPr lang="en-US" dirty="0"/>
          </a:p>
          <a:p>
            <a:r>
              <a:rPr lang="en-US" b="1" dirty="0"/>
              <a:t>Disadvantages:</a:t>
            </a:r>
          </a:p>
          <a:p>
            <a:pPr>
              <a:buFont typeface="Arial" panose="020B0604020202020204" pitchFamily="34" charset="0"/>
              <a:buChar char="•"/>
            </a:pPr>
            <a:r>
              <a:rPr lang="en-US" b="1" dirty="0"/>
              <a:t>Increased Complexity:</a:t>
            </a:r>
            <a:r>
              <a:rPr lang="en-US" dirty="0"/>
              <a:t> Managing many small services, deployments, and communication paths can be challenging.</a:t>
            </a:r>
          </a:p>
          <a:p>
            <a:pPr>
              <a:buFont typeface="Arial" panose="020B0604020202020204" pitchFamily="34" charset="0"/>
              <a:buChar char="•"/>
            </a:pPr>
            <a:r>
              <a:rPr lang="en-US" b="1" dirty="0"/>
              <a:t>Operational Overhead:</a:t>
            </a:r>
            <a:r>
              <a:rPr lang="en-US" dirty="0"/>
              <a:t> Requires robust DevOps practices and tools for CI/CD, monitoring, and logging.</a:t>
            </a:r>
          </a:p>
          <a:p>
            <a:pPr>
              <a:buFont typeface="Arial" panose="020B0604020202020204" pitchFamily="34" charset="0"/>
              <a:buChar char="•"/>
            </a:pPr>
            <a:r>
              <a:rPr lang="en-US" b="1" dirty="0"/>
              <a:t>Data Consistency:</a:t>
            </a:r>
            <a:r>
              <a:rPr lang="en-US" dirty="0"/>
              <a:t> Ensuring data consistency across distributed services can be difficult.</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51</a:t>
            </a:fld>
            <a:endParaRPr lang="en-US"/>
          </a:p>
        </p:txBody>
      </p:sp>
    </p:spTree>
    <p:extLst>
      <p:ext uri="{BB962C8B-B14F-4D97-AF65-F5344CB8AC3E}">
        <p14:creationId xmlns:p14="http://schemas.microsoft.com/office/powerpoint/2010/main" val="361719869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EB6173-E67A-4ABF-9D07-B09534D3609E}" type="datetime1">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46388-AE01-495E-A422-64DF783CA3B7}" type="datetime1">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9C16433-D5F8-4032-B388-28ED11946A35}" type="datetime1">
              <a:rPr lang="en-US" smtClean="0"/>
              <a:t>8/12/2026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504850-3495-4488-8FCD-CA2C2E246139}" type="datetime1">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61167-CE2C-4438-984C-13395A4B84EC}" type="datetime1">
              <a:rPr lang="en-US" smtClean="0"/>
              <a:t>8/12/2026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801522-C990-43F2-8182-0FD4A92B7E09}" type="datetime1">
              <a:rPr lang="en-US" smtClean="0"/>
              <a:t>8/12/2026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2F88E-6C11-475F-BE2E-9D746C0DC1FA}" type="datetime1">
              <a:rPr lang="en-US" smtClean="0"/>
              <a:t>8/12/2026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295CF-5C66-4080-A38E-555C4E259035}" type="datetime1">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086953-5472-4DB2-8C9D-C55ADA395F85}" type="datetime1">
              <a:rPr lang="en-US" smtClean="0"/>
              <a:t>8/12/2026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472C30-6944-4E86-995E-211D9B5BF857}" type="datetime1">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99CB5-B776-4CF2-94FC-CA909301CA95}" type="datetime1">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1CA38CA-2EB5-43C2-81A6-FE170C4CF28A}" type="datetime1">
              <a:rPr lang="en-US" smtClean="0"/>
              <a:t>8/12/2026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A0D-6E59-4383-9DF9-A8C233DC83C8}"/>
              </a:ext>
            </a:extLst>
          </p:cNvPr>
          <p:cNvSpPr>
            <a:spLocks noGrp="1"/>
          </p:cNvSpPr>
          <p:nvPr>
            <p:ph type="ctrTitle"/>
          </p:nvPr>
        </p:nvSpPr>
        <p:spPr/>
        <p:txBody>
          <a:bodyPr/>
          <a:lstStyle/>
          <a:p>
            <a:pPr>
              <a:lnSpc>
                <a:spcPct val="50000"/>
              </a:lnSpc>
            </a:pPr>
            <a:r>
              <a:rPr lang="en-US" sz="4800" dirty="0"/>
              <a:t>Unit 6</a:t>
            </a:r>
            <a:br>
              <a:rPr lang="en-US" sz="4800" dirty="0"/>
            </a:br>
            <a:br>
              <a:rPr lang="en-US" sz="6600" dirty="0"/>
            </a:br>
            <a:r>
              <a:rPr lang="en-US" sz="6600" dirty="0"/>
              <a:t>System Architecture &amp; Design</a:t>
            </a:r>
            <a:br>
              <a:rPr lang="en-US" dirty="0"/>
            </a:br>
            <a:endParaRPr lang="en-US" dirty="0"/>
          </a:p>
        </p:txBody>
      </p:sp>
      <p:sp>
        <p:nvSpPr>
          <p:cNvPr id="8" name="Subtitle 7">
            <a:extLst>
              <a:ext uri="{FF2B5EF4-FFF2-40B4-BE49-F238E27FC236}">
                <a16:creationId xmlns:a16="http://schemas.microsoft.com/office/drawing/2014/main" id="{FD94B0D4-AD5E-4142-BB4C-606A9BFB8C8B}"/>
              </a:ext>
            </a:extLst>
          </p:cNvPr>
          <p:cNvSpPr>
            <a:spLocks noGrp="1"/>
          </p:cNvSpPr>
          <p:nvPr>
            <p:ph type="subTitle" idx="1"/>
          </p:nvPr>
        </p:nvSpPr>
        <p:spPr>
          <a:xfrm>
            <a:off x="1051560" y="4615363"/>
            <a:ext cx="7891272" cy="1069848"/>
          </a:xfrm>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id="{6E315391-4770-44DD-96B8-AB52F28EC26C}"/>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34883A51-3C9B-4315-8D30-E190E9B94F5A}"/>
              </a:ext>
            </a:extLst>
          </p:cNvPr>
          <p:cNvSpPr>
            <a:spLocks noGrp="1"/>
          </p:cNvSpPr>
          <p:nvPr>
            <p:ph idx="1"/>
          </p:nvPr>
        </p:nvSpPr>
        <p:spPr/>
        <p:txBody>
          <a:bodyPr>
            <a:normAutofit/>
          </a:bodyPr>
          <a:lstStyle/>
          <a:p>
            <a:r>
              <a:rPr lang="en-US" dirty="0"/>
              <a:t>Introduction; </a:t>
            </a:r>
          </a:p>
          <a:p>
            <a:r>
              <a:rPr lang="en-US" dirty="0"/>
              <a:t>Architectural Design Decisions; </a:t>
            </a:r>
          </a:p>
          <a:p>
            <a:r>
              <a:rPr lang="en-US" dirty="0"/>
              <a:t>Architectural Views; </a:t>
            </a:r>
          </a:p>
          <a:p>
            <a:r>
              <a:rPr lang="en-US"/>
              <a:t>Architectural Patterns; </a:t>
            </a:r>
          </a:p>
          <a:p>
            <a:r>
              <a:rPr lang="en-US"/>
              <a:t>Application Architectures</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9B78AC-CDA8-45C3-B850-3A69787F6754}"/>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Architectural Design</a:t>
            </a:r>
          </a:p>
        </p:txBody>
      </p:sp>
      <p:sp>
        <p:nvSpPr>
          <p:cNvPr id="3" name="Content Placeholder 2"/>
          <p:cNvSpPr>
            <a:spLocks noGrp="1"/>
          </p:cNvSpPr>
          <p:nvPr>
            <p:ph idx="1"/>
          </p:nvPr>
        </p:nvSpPr>
        <p:spPr/>
        <p:txBody>
          <a:bodyPr>
            <a:normAutofit/>
          </a:bodyPr>
          <a:lstStyle/>
          <a:p>
            <a:pPr algn="just"/>
            <a:r>
              <a:rPr lang="en-US" dirty="0"/>
              <a:t>Architecture design in software engineering refers to the process of creating a conceptual model or plan for the software system. The architecture design involves making crucial decisions about the structure, behavior, and functionality of the system, as well as the components and modules that will be used.</a:t>
            </a:r>
          </a:p>
          <a:p>
            <a:pPr algn="just"/>
            <a:r>
              <a:rPr lang="en-US" dirty="0"/>
              <a:t>The goal of architecture design is to create a blueprint that guides the development process and ensures that the resulting software system meets the desired requirements and specifications. Effective architecture design helps to reduce complexity, improve maintainability, and enhance the overall quality of the software system.</a:t>
            </a:r>
          </a:p>
        </p:txBody>
      </p:sp>
    </p:spTree>
    <p:extLst>
      <p:ext uri="{BB962C8B-B14F-4D97-AF65-F5344CB8AC3E}">
        <p14:creationId xmlns:p14="http://schemas.microsoft.com/office/powerpoint/2010/main" val="375977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Who does it?</a:t>
            </a:r>
          </a:p>
        </p:txBody>
      </p:sp>
      <p:sp>
        <p:nvSpPr>
          <p:cNvPr id="3" name="Content Placeholder 2"/>
          <p:cNvSpPr>
            <a:spLocks noGrp="1"/>
          </p:cNvSpPr>
          <p:nvPr>
            <p:ph idx="1"/>
          </p:nvPr>
        </p:nvSpPr>
        <p:spPr/>
        <p:txBody>
          <a:bodyPr>
            <a:normAutofit/>
          </a:bodyPr>
          <a:lstStyle/>
          <a:p>
            <a:pPr algn="just"/>
            <a:r>
              <a:rPr lang="en-US" dirty="0"/>
              <a:t>Although a software engineer can design both data and architecture, the job is often allocated to specialists when large, complex systems are to be built. A database or data warehouse designer creates the data architecture for a system. The “system architect” selects an appropriate architectural style from the requirements derived during software requirements analysis. </a:t>
            </a:r>
          </a:p>
          <a:p>
            <a:pPr algn="just"/>
            <a:r>
              <a:rPr lang="en-US" dirty="0"/>
              <a:t>Why is it important? You wouldn’t attempt to build a house without a blueprint, would you? You also wouldn’t begin drawing blueprints by sketching the plumbing layout for the house. You’d need to look at the big picture—the house itself—before you worry about details. That’s what architectural design does—it provides you with the big picture and ensures that you’ve got it right. </a:t>
            </a:r>
          </a:p>
        </p:txBody>
      </p:sp>
    </p:spTree>
    <p:extLst>
      <p:ext uri="{BB962C8B-B14F-4D97-AF65-F5344CB8AC3E}">
        <p14:creationId xmlns:p14="http://schemas.microsoft.com/office/powerpoint/2010/main" val="2518075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 Architecture of Packing Robot System</a:t>
            </a:r>
          </a:p>
        </p:txBody>
      </p:sp>
      <p:pic>
        <p:nvPicPr>
          <p:cNvPr id="4" name="Content Placeholder 3"/>
          <p:cNvPicPr>
            <a:picLocks noGrp="1" noChangeAspect="1"/>
          </p:cNvPicPr>
          <p:nvPr>
            <p:ph idx="1"/>
          </p:nvPr>
        </p:nvPicPr>
        <p:blipFill>
          <a:blip r:embed="rId2"/>
          <a:stretch>
            <a:fillRect/>
          </a:stretch>
        </p:blipFill>
        <p:spPr>
          <a:xfrm>
            <a:off x="3559153" y="1825625"/>
            <a:ext cx="5073694" cy="4351338"/>
          </a:xfrm>
          <a:prstGeom prst="rect">
            <a:avLst/>
          </a:prstGeom>
        </p:spPr>
      </p:pic>
    </p:spTree>
    <p:extLst>
      <p:ext uri="{BB962C8B-B14F-4D97-AF65-F5344CB8AC3E}">
        <p14:creationId xmlns:p14="http://schemas.microsoft.com/office/powerpoint/2010/main" val="2605031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a:t>
            </a:r>
          </a:p>
        </p:txBody>
      </p:sp>
      <p:sp>
        <p:nvSpPr>
          <p:cNvPr id="3" name="Content Placeholder 2"/>
          <p:cNvSpPr>
            <a:spLocks noGrp="1"/>
          </p:cNvSpPr>
          <p:nvPr>
            <p:ph idx="1"/>
          </p:nvPr>
        </p:nvSpPr>
        <p:spPr/>
        <p:txBody>
          <a:bodyPr/>
          <a:lstStyle/>
          <a:p>
            <a:pPr algn="just"/>
            <a:r>
              <a:rPr lang="en-US" dirty="0"/>
              <a:t>To help you understand what I mean by system architecture, look at Figure . This diagram shows an abstract model of the architecture for a packing robot system. This robotic system can pack different kinds of objects. It uses a vision component to pick out objects on a conveyor, identify the type of object, and select the right kind of packaging. The system then moves objects from the delivery conveyor to be packaged. It places packaged objects on another conveyor. The architectural model shows these components and the links between them</a:t>
            </a:r>
          </a:p>
        </p:txBody>
      </p:sp>
    </p:spTree>
    <p:extLst>
      <p:ext uri="{BB962C8B-B14F-4D97-AF65-F5344CB8AC3E}">
        <p14:creationId xmlns:p14="http://schemas.microsoft.com/office/powerpoint/2010/main" val="1169248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a:t>
            </a:r>
          </a:p>
        </p:txBody>
      </p:sp>
      <p:sp>
        <p:nvSpPr>
          <p:cNvPr id="3" name="Content Placeholder 2"/>
          <p:cNvSpPr>
            <a:spLocks noGrp="1"/>
          </p:cNvSpPr>
          <p:nvPr>
            <p:ph idx="1"/>
          </p:nvPr>
        </p:nvSpPr>
        <p:spPr/>
        <p:txBody>
          <a:bodyPr/>
          <a:lstStyle/>
          <a:p>
            <a:pPr algn="just"/>
            <a:r>
              <a:rPr lang="en-US" dirty="0"/>
              <a:t>System architectures are often modeled informally using simple block diagrams, as in Figure. Each box in the diagram represents a component. Boxes within boxes indicate that the component has been decomposed to subcomponents. Arrows mean that data and or control signals are passed from component to component in the direction of the arrows. </a:t>
            </a:r>
          </a:p>
          <a:p>
            <a:pPr algn="just"/>
            <a:r>
              <a:rPr lang="en-US" dirty="0"/>
              <a:t>Block diagrams present a high-level picture of the system structure, which people from different disciplines, who are involved in the system development process, can readily understand. </a:t>
            </a:r>
          </a:p>
        </p:txBody>
      </p:sp>
    </p:spTree>
    <p:extLst>
      <p:ext uri="{BB962C8B-B14F-4D97-AF65-F5344CB8AC3E}">
        <p14:creationId xmlns:p14="http://schemas.microsoft.com/office/powerpoint/2010/main" val="1021122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Architectural Design</a:t>
            </a:r>
          </a:p>
        </p:txBody>
      </p:sp>
      <p:sp>
        <p:nvSpPr>
          <p:cNvPr id="3" name="Content Placeholder 2"/>
          <p:cNvSpPr>
            <a:spLocks noGrp="1"/>
          </p:cNvSpPr>
          <p:nvPr>
            <p:ph idx="1"/>
          </p:nvPr>
        </p:nvSpPr>
        <p:spPr/>
        <p:txBody>
          <a:bodyPr>
            <a:normAutofit/>
          </a:bodyPr>
          <a:lstStyle/>
          <a:p>
            <a:pPr marL="0" indent="0" algn="just">
              <a:buNone/>
            </a:pPr>
            <a:r>
              <a:rPr lang="en-US" dirty="0"/>
              <a:t>1. </a:t>
            </a:r>
            <a:r>
              <a:rPr lang="en-US" b="1" dirty="0"/>
              <a:t>Stakeholder communication: </a:t>
            </a:r>
            <a:r>
              <a:rPr lang="en-US" dirty="0"/>
              <a:t>The architecture is a high-level presentation of the system that may be used as a focus for discussion by a range of different stakeholders. </a:t>
            </a:r>
          </a:p>
          <a:p>
            <a:pPr marL="0" indent="0" algn="just">
              <a:buNone/>
            </a:pPr>
            <a:r>
              <a:rPr lang="en-US" dirty="0"/>
              <a:t>2. </a:t>
            </a:r>
            <a:r>
              <a:rPr lang="en-US" b="1" dirty="0"/>
              <a:t>System analysis: </a:t>
            </a:r>
            <a:r>
              <a:rPr lang="en-US" dirty="0"/>
              <a:t>Making the system architecture explicit at an early stage in the system development requires some analysis. Architectural design decisions have a profound effect on whether or not the system can meet critical requirements such as performance, reliability, and maintainability. </a:t>
            </a:r>
          </a:p>
          <a:p>
            <a:pPr marL="0" indent="0" algn="just">
              <a:buNone/>
            </a:pPr>
            <a:r>
              <a:rPr lang="en-US" dirty="0"/>
              <a:t>3. </a:t>
            </a:r>
            <a:r>
              <a:rPr lang="en-US" b="1" dirty="0"/>
              <a:t>Large-scale reuse: </a:t>
            </a:r>
            <a:r>
              <a:rPr lang="en-US" dirty="0"/>
              <a:t>An architectural model is a compact, manageable description of how a system is organized and how the components interoperate. The system architecture is often the same for systems with similar requirements and so can support large-scale software reuse</a:t>
            </a:r>
          </a:p>
        </p:txBody>
      </p:sp>
    </p:spTree>
    <p:extLst>
      <p:ext uri="{BB962C8B-B14F-4D97-AF65-F5344CB8AC3E}">
        <p14:creationId xmlns:p14="http://schemas.microsoft.com/office/powerpoint/2010/main" val="2048247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Architectural Design Decisions</a:t>
            </a:r>
          </a:p>
        </p:txBody>
      </p:sp>
      <p:sp>
        <p:nvSpPr>
          <p:cNvPr id="3" name="Content Placeholder 2"/>
          <p:cNvSpPr>
            <a:spLocks noGrp="1"/>
          </p:cNvSpPr>
          <p:nvPr>
            <p:ph idx="1"/>
          </p:nvPr>
        </p:nvSpPr>
        <p:spPr/>
        <p:txBody>
          <a:bodyPr/>
          <a:lstStyle/>
          <a:p>
            <a:pPr algn="just"/>
            <a:r>
              <a:rPr lang="en-US" dirty="0"/>
              <a:t>Architectural design is a creative process in which you design a system organization that will satisfy the functional and non-functional requirements of a system. </a:t>
            </a:r>
          </a:p>
          <a:p>
            <a:pPr algn="just"/>
            <a:r>
              <a:rPr lang="en-US" dirty="0"/>
              <a:t>There is no formulaic architectural design process. It depends on the type of system being developed, the background and experience of the system architect, and the specific requirements for the system. </a:t>
            </a:r>
          </a:p>
          <a:p>
            <a:pPr algn="just"/>
            <a:r>
              <a:rPr lang="en-US" dirty="0"/>
              <a:t>These decisions involve a wide range of considerations, including functional and non-functional requirements, scalability, maintainability, performance, security, and usability.</a:t>
            </a:r>
          </a:p>
        </p:txBody>
      </p:sp>
    </p:spTree>
    <p:extLst>
      <p:ext uri="{BB962C8B-B14F-4D97-AF65-F5344CB8AC3E}">
        <p14:creationId xmlns:p14="http://schemas.microsoft.com/office/powerpoint/2010/main" val="2577139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Some common architecture design decisions include:</a:t>
            </a:r>
          </a:p>
        </p:txBody>
      </p:sp>
      <p:sp>
        <p:nvSpPr>
          <p:cNvPr id="3" name="Content Placeholder 2"/>
          <p:cNvSpPr>
            <a:spLocks noGrp="1"/>
          </p:cNvSpPr>
          <p:nvPr>
            <p:ph idx="1"/>
          </p:nvPr>
        </p:nvSpPr>
        <p:spPr/>
        <p:txBody>
          <a:bodyPr>
            <a:normAutofit/>
          </a:bodyPr>
          <a:lstStyle/>
          <a:p>
            <a:pPr algn="just"/>
            <a:r>
              <a:rPr lang="en-US" b="1" dirty="0"/>
              <a:t>Choosing the appropriate architecture style: </a:t>
            </a:r>
            <a:r>
              <a:rPr lang="en-US" dirty="0"/>
              <a:t>The architecture style defines the overall structure and organization of the software system, such as </a:t>
            </a:r>
            <a:r>
              <a:rPr lang="en-US" b="1" dirty="0"/>
              <a:t>layered, client-server, micro services, or event-driven architecture.</a:t>
            </a:r>
          </a:p>
          <a:p>
            <a:pPr algn="just"/>
            <a:r>
              <a:rPr lang="en-US" b="1" dirty="0"/>
              <a:t>Deciding on the software components: </a:t>
            </a:r>
            <a:r>
              <a:rPr lang="en-US" dirty="0"/>
              <a:t>The software components are the building blocks of the software system, and architects and developers need to choose the appropriate components based on the design requirements and constraints. For </a:t>
            </a:r>
            <a:r>
              <a:rPr lang="en-US" dirty="0" err="1"/>
              <a:t>eg.</a:t>
            </a:r>
            <a:r>
              <a:rPr lang="en-US" dirty="0"/>
              <a:t> </a:t>
            </a:r>
            <a:r>
              <a:rPr lang="en-US" b="1" dirty="0"/>
              <a:t>Buttons, forms, server </a:t>
            </a:r>
            <a:r>
              <a:rPr lang="en-US" dirty="0"/>
              <a:t>can be components of web based application</a:t>
            </a:r>
          </a:p>
        </p:txBody>
      </p:sp>
    </p:spTree>
    <p:extLst>
      <p:ext uri="{BB962C8B-B14F-4D97-AF65-F5344CB8AC3E}">
        <p14:creationId xmlns:p14="http://schemas.microsoft.com/office/powerpoint/2010/main" val="3618229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Some common architecture design decisions include:</a:t>
            </a:r>
          </a:p>
        </p:txBody>
      </p:sp>
      <p:sp>
        <p:nvSpPr>
          <p:cNvPr id="3" name="Content Placeholder 2"/>
          <p:cNvSpPr>
            <a:spLocks noGrp="1"/>
          </p:cNvSpPr>
          <p:nvPr>
            <p:ph idx="1"/>
          </p:nvPr>
        </p:nvSpPr>
        <p:spPr/>
        <p:txBody>
          <a:bodyPr>
            <a:normAutofit lnSpcReduction="10000"/>
          </a:bodyPr>
          <a:lstStyle/>
          <a:p>
            <a:pPr algn="just"/>
            <a:r>
              <a:rPr lang="en-US" b="1" dirty="0"/>
              <a:t>Selecting the appropriate programming language and frameworks: </a:t>
            </a:r>
            <a:r>
              <a:rPr lang="en-US" dirty="0"/>
              <a:t>The programming language and frameworks affect the development process, performance, and maintainability of the software system.</a:t>
            </a:r>
          </a:p>
          <a:p>
            <a:pPr algn="just"/>
            <a:r>
              <a:rPr lang="en-US" b="1" dirty="0"/>
              <a:t>Designing the database schema and data access layer: </a:t>
            </a:r>
            <a:r>
              <a:rPr lang="en-US" dirty="0"/>
              <a:t>The database schema and data access layer define how the system stores and retrieves data. Architects and developers need to choose an appropriate database management system and design the schema and data access layer to ensure scalability, performance, and security.</a:t>
            </a:r>
          </a:p>
          <a:p>
            <a:pPr algn="just"/>
            <a:r>
              <a:rPr lang="en-US" b="1" dirty="0"/>
              <a:t>Deciding on the software deployment architecture: </a:t>
            </a:r>
            <a:r>
              <a:rPr lang="en-US" dirty="0"/>
              <a:t>The deployment architecture defines how the software system is deployed and managed, such as on premise or cloud-based.</a:t>
            </a:r>
          </a:p>
          <a:p>
            <a:pPr marL="0" indent="0" algn="just">
              <a:buNone/>
            </a:pPr>
            <a:r>
              <a:rPr lang="en-US" dirty="0"/>
              <a:t>Overall, architecture design decisions in software engineering involve a complex set of considerations and require careful planning and analysis to create a functional, efficient, and secure software system.</a:t>
            </a:r>
            <a:endParaRPr lang="en-US" b="1" dirty="0"/>
          </a:p>
        </p:txBody>
      </p:sp>
    </p:spTree>
    <p:extLst>
      <p:ext uri="{BB962C8B-B14F-4D97-AF65-F5344CB8AC3E}">
        <p14:creationId xmlns:p14="http://schemas.microsoft.com/office/powerpoint/2010/main" val="1401144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mn-lt"/>
              </a:rPr>
              <a:t>Questions which may arise during Architectural design</a:t>
            </a:r>
          </a:p>
        </p:txBody>
      </p:sp>
      <p:pic>
        <p:nvPicPr>
          <p:cNvPr id="4" name="Content Placeholder 3"/>
          <p:cNvPicPr>
            <a:picLocks noGrp="1" noChangeAspect="1"/>
          </p:cNvPicPr>
          <p:nvPr>
            <p:ph idx="1"/>
          </p:nvPr>
        </p:nvPicPr>
        <p:blipFill>
          <a:blip r:embed="rId3"/>
          <a:stretch>
            <a:fillRect/>
          </a:stretch>
        </p:blipFill>
        <p:spPr>
          <a:xfrm>
            <a:off x="2048042" y="1825625"/>
            <a:ext cx="8095915" cy="4351338"/>
          </a:xfrm>
          <a:prstGeom prst="rect">
            <a:avLst/>
          </a:prstGeom>
        </p:spPr>
      </p:pic>
    </p:spTree>
    <p:extLst>
      <p:ext uri="{BB962C8B-B14F-4D97-AF65-F5344CB8AC3E}">
        <p14:creationId xmlns:p14="http://schemas.microsoft.com/office/powerpoint/2010/main" val="4208897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Architectural Views</a:t>
            </a:r>
          </a:p>
        </p:txBody>
      </p:sp>
      <p:sp>
        <p:nvSpPr>
          <p:cNvPr id="3" name="Content Placeholder 2"/>
          <p:cNvSpPr>
            <a:spLocks noGrp="1"/>
          </p:cNvSpPr>
          <p:nvPr>
            <p:ph idx="1"/>
          </p:nvPr>
        </p:nvSpPr>
        <p:spPr/>
        <p:txBody>
          <a:bodyPr/>
          <a:lstStyle/>
          <a:p>
            <a:pPr algn="just"/>
            <a:r>
              <a:rPr lang="en-US" dirty="0"/>
              <a:t>It is impossible to represent all relevant information about a system’s architecture in a single diagram, as a graphical model can only show one view or perspective of the system. It might show how a system is decomposed into modules, how the runtime processes interact, or the different ways in which system components are distributed across a network. Because all of these are useful at different times, for both design and documentation, you usually need to present multiple views of the software architecture</a:t>
            </a:r>
          </a:p>
        </p:txBody>
      </p:sp>
    </p:spTree>
    <p:extLst>
      <p:ext uri="{BB962C8B-B14F-4D97-AF65-F5344CB8AC3E}">
        <p14:creationId xmlns:p14="http://schemas.microsoft.com/office/powerpoint/2010/main" val="3458793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Architectural View Model</a:t>
            </a:r>
          </a:p>
        </p:txBody>
      </p:sp>
      <p:sp>
        <p:nvSpPr>
          <p:cNvPr id="3" name="Content Placeholder 2"/>
          <p:cNvSpPr>
            <a:spLocks noGrp="1"/>
          </p:cNvSpPr>
          <p:nvPr>
            <p:ph idx="1"/>
          </p:nvPr>
        </p:nvSpPr>
        <p:spPr/>
        <p:txBody>
          <a:bodyPr>
            <a:normAutofit/>
          </a:bodyPr>
          <a:lstStyle/>
          <a:p>
            <a:pPr algn="just"/>
            <a:r>
              <a:rPr lang="en-US" dirty="0"/>
              <a:t>In software engineering, an architectural view refers to a high-level representation of a software system's structure and organization, from a specific perspective or stakeholder's point of view. The architectural view allows stakeholders to understand and communicate the system's architecture in a way that aligns with their concerns and priorities.</a:t>
            </a:r>
          </a:p>
          <a:p>
            <a:pPr algn="just"/>
            <a:r>
              <a:rPr lang="en-US" dirty="0"/>
              <a:t>The views are used to describe the system from the viewpoint of different stakeholders, such as end-users, developers, system engineers, and project managers. The four views of the model are logical, development, process and physical view. In addition, selected use cases or scenarios are used to illustrate the architecture serving as the 'plus one' view. Hence, the model contains 4+1 views:</a:t>
            </a:r>
          </a:p>
        </p:txBody>
      </p:sp>
    </p:spTree>
    <p:extLst>
      <p:ext uri="{BB962C8B-B14F-4D97-AF65-F5344CB8AC3E}">
        <p14:creationId xmlns:p14="http://schemas.microsoft.com/office/powerpoint/2010/main" val="1732585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Architectural View Model</a:t>
            </a:r>
            <a:endParaRPr lang="en-US" dirty="0"/>
          </a:p>
        </p:txBody>
      </p:sp>
      <p:pic>
        <p:nvPicPr>
          <p:cNvPr id="1028" name="Picture 4" descr="4+1 View Model of Architecture (Kruchten 1995). In the original model,...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8008" y="1910628"/>
            <a:ext cx="7885490" cy="4650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749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Architectural View Model</a:t>
            </a:r>
            <a:endParaRPr lang="en-US" dirty="0"/>
          </a:p>
        </p:txBody>
      </p:sp>
      <p:sp>
        <p:nvSpPr>
          <p:cNvPr id="3" name="Content Placeholder 2"/>
          <p:cNvSpPr>
            <a:spLocks noGrp="1"/>
          </p:cNvSpPr>
          <p:nvPr>
            <p:ph idx="1"/>
          </p:nvPr>
        </p:nvSpPr>
        <p:spPr>
          <a:xfrm>
            <a:off x="838199" y="1825624"/>
            <a:ext cx="10869891" cy="4810845"/>
          </a:xfrm>
        </p:spPr>
        <p:txBody>
          <a:bodyPr>
            <a:normAutofit/>
          </a:bodyPr>
          <a:lstStyle/>
          <a:p>
            <a:pPr algn="just"/>
            <a:r>
              <a:rPr lang="en-US" b="1" i="1" dirty="0"/>
              <a:t>Logical view</a:t>
            </a:r>
            <a:r>
              <a:rPr lang="en-US" dirty="0"/>
              <a:t>: The logical view is concerned with the </a:t>
            </a:r>
            <a:r>
              <a:rPr lang="en-US" b="1" dirty="0">
                <a:latin typeface="Bahnschrift" panose="020B0502040204020203" pitchFamily="34" charset="0"/>
              </a:rPr>
              <a:t>functionality that the system provides to end-users</a:t>
            </a:r>
            <a:r>
              <a:rPr lang="en-US" dirty="0"/>
              <a:t>. UML diagrams are used to represent the logical view, and include class diagrams, and state diagrams. A logical view, which shows the key abstractions in the system as objects or object classes. Static modeling view.</a:t>
            </a:r>
          </a:p>
          <a:p>
            <a:pPr algn="just"/>
            <a:r>
              <a:rPr lang="en-US" b="1" i="1" dirty="0"/>
              <a:t>Process view</a:t>
            </a:r>
            <a:r>
              <a:rPr lang="en-US" dirty="0"/>
              <a:t>: The process view deals with the dynamic aspects of the system, explains the system processes and how they communicate, and focuses on the run time behavior of the system. The process view addresses concurrency, distribution, integrator, performance, and scalability, etc. UML diagrams to represent process view include the sequence diagram, communication diagram, activity diagram.</a:t>
            </a:r>
          </a:p>
          <a:p>
            <a:pPr algn="just"/>
            <a:r>
              <a:rPr lang="en-US" b="1" i="1" dirty="0"/>
              <a:t>Development view</a:t>
            </a:r>
            <a:r>
              <a:rPr lang="en-US" dirty="0"/>
              <a:t>: The development view illustrates a system from a </a:t>
            </a:r>
            <a:r>
              <a:rPr lang="en-US" b="1" dirty="0"/>
              <a:t>programmer's perspective </a:t>
            </a:r>
            <a:r>
              <a:rPr lang="en-US" dirty="0"/>
              <a:t>and is concerned with software management. This view is also known as the implementation view. UML Diagrams used to represent the development view include the Package diagram and the Component diagram. A development view, which shows how the software is decomposed for development; that is, it shows the breakdown of the software into components that are implemented by a single developer or development team. This view is useful for software managers and programmers.</a:t>
            </a:r>
          </a:p>
          <a:p>
            <a:pPr algn="just"/>
            <a:endParaRPr lang="en-US" dirty="0"/>
          </a:p>
        </p:txBody>
      </p:sp>
    </p:spTree>
    <p:extLst>
      <p:ext uri="{BB962C8B-B14F-4D97-AF65-F5344CB8AC3E}">
        <p14:creationId xmlns:p14="http://schemas.microsoft.com/office/powerpoint/2010/main" val="3172126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Architectural View Model</a:t>
            </a:r>
            <a:endParaRPr lang="en-US" dirty="0"/>
          </a:p>
        </p:txBody>
      </p:sp>
      <p:sp>
        <p:nvSpPr>
          <p:cNvPr id="3" name="Content Placeholder 2"/>
          <p:cNvSpPr>
            <a:spLocks noGrp="1"/>
          </p:cNvSpPr>
          <p:nvPr>
            <p:ph idx="1"/>
          </p:nvPr>
        </p:nvSpPr>
        <p:spPr/>
        <p:txBody>
          <a:bodyPr>
            <a:normAutofit/>
          </a:bodyPr>
          <a:lstStyle/>
          <a:p>
            <a:pPr algn="just"/>
            <a:r>
              <a:rPr lang="en-US" b="1" i="1" dirty="0"/>
              <a:t>Physical view</a:t>
            </a:r>
            <a:r>
              <a:rPr lang="en-US" dirty="0"/>
              <a:t>: The physical view (aka the </a:t>
            </a:r>
            <a:r>
              <a:rPr lang="en-US" i="1" dirty="0"/>
              <a:t>deployment view</a:t>
            </a:r>
            <a:r>
              <a:rPr lang="en-US" dirty="0"/>
              <a:t>) depicts the system from a </a:t>
            </a:r>
            <a:r>
              <a:rPr lang="en-US" b="1" dirty="0"/>
              <a:t>system engineer's point of view</a:t>
            </a:r>
            <a:r>
              <a:rPr lang="en-US" dirty="0"/>
              <a:t>. It is concerned with the topology of software components on the physical layer as well as the physical connections between these components. UML diagrams used to represent the physical view include the deployment diagram. physical view, which shows the system hardware and how software components are distributed across the processors in the system. This view is useful for systems engineers planning a system deployment.</a:t>
            </a:r>
          </a:p>
          <a:p>
            <a:pPr algn="just"/>
            <a:r>
              <a:rPr lang="en-US" b="1" i="1" dirty="0"/>
              <a:t>Scenarios</a:t>
            </a:r>
            <a:r>
              <a:rPr lang="en-US" dirty="0"/>
              <a:t>: The description of an architecture is illustrated using a small set of use cases, or scenarios, which become a fifth view. The scenarios describe sequences of interactions between objects and between processes. They are used to identify architectural elements and to illustrate and validate the architecture design. They also serve as a starting point for tests of an architecture prototype. This view is also known as the </a:t>
            </a:r>
            <a:r>
              <a:rPr lang="en-US" b="1" dirty="0"/>
              <a:t>use case view</a:t>
            </a:r>
            <a:r>
              <a:rPr lang="en-US" dirty="0"/>
              <a:t>.</a:t>
            </a:r>
          </a:p>
        </p:txBody>
      </p:sp>
    </p:spTree>
    <p:extLst>
      <p:ext uri="{BB962C8B-B14F-4D97-AF65-F5344CB8AC3E}">
        <p14:creationId xmlns:p14="http://schemas.microsoft.com/office/powerpoint/2010/main" val="2140079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Questions:</a:t>
            </a:r>
          </a:p>
        </p:txBody>
      </p:sp>
      <p:sp>
        <p:nvSpPr>
          <p:cNvPr id="3" name="Content Placeholder 2"/>
          <p:cNvSpPr>
            <a:spLocks noGrp="1"/>
          </p:cNvSpPr>
          <p:nvPr>
            <p:ph idx="1"/>
          </p:nvPr>
        </p:nvSpPr>
        <p:spPr/>
        <p:txBody>
          <a:bodyPr/>
          <a:lstStyle/>
          <a:p>
            <a:r>
              <a:rPr lang="en-US" dirty="0"/>
              <a:t>What is Architectural Design? Who does it? Why it is important? Give some appropriate example.</a:t>
            </a:r>
          </a:p>
          <a:p>
            <a:r>
              <a:rPr lang="en-US" dirty="0"/>
              <a:t>What is Architectural Design Decision? What Questions may arise during Architectural Design.</a:t>
            </a:r>
          </a:p>
          <a:p>
            <a:r>
              <a:rPr lang="en-US" dirty="0"/>
              <a:t> What is 4+1 Architectural View Model? Explain in brief.</a:t>
            </a:r>
          </a:p>
        </p:txBody>
      </p:sp>
    </p:spTree>
    <p:extLst>
      <p:ext uri="{BB962C8B-B14F-4D97-AF65-F5344CB8AC3E}">
        <p14:creationId xmlns:p14="http://schemas.microsoft.com/office/powerpoint/2010/main" val="1890018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Modular Decomposition:</a:t>
            </a:r>
          </a:p>
        </p:txBody>
      </p:sp>
      <p:sp>
        <p:nvSpPr>
          <p:cNvPr id="3" name="Content Placeholder 2"/>
          <p:cNvSpPr>
            <a:spLocks noGrp="1"/>
          </p:cNvSpPr>
          <p:nvPr>
            <p:ph idx="1"/>
          </p:nvPr>
        </p:nvSpPr>
        <p:spPr/>
        <p:txBody>
          <a:bodyPr/>
          <a:lstStyle/>
          <a:p>
            <a:pPr algn="just"/>
            <a:r>
              <a:rPr lang="en-US" dirty="0"/>
              <a:t>To design  system is to determine a   set of components and inter component interface that satisfy a specified set of requirements. Basically there  are many  methods to create good designs, however very design method involves some kind of decomposition  starting with  a high  level depiction of the  system  key  elements and creating lower  level looks at how  the system feature and functions will fit  together.</a:t>
            </a:r>
          </a:p>
        </p:txBody>
      </p:sp>
    </p:spTree>
    <p:extLst>
      <p:ext uri="{BB962C8B-B14F-4D97-AF65-F5344CB8AC3E}">
        <p14:creationId xmlns:p14="http://schemas.microsoft.com/office/powerpoint/2010/main" val="354545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Level of Decomposition:</a:t>
            </a:r>
          </a:p>
        </p:txBody>
      </p:sp>
      <p:pic>
        <p:nvPicPr>
          <p:cNvPr id="4" name="Content Placeholder 3"/>
          <p:cNvPicPr>
            <a:picLocks noGrp="1" noChangeAspect="1"/>
          </p:cNvPicPr>
          <p:nvPr>
            <p:ph idx="1"/>
          </p:nvPr>
        </p:nvPicPr>
        <p:blipFill>
          <a:blip r:embed="rId3"/>
          <a:stretch>
            <a:fillRect/>
          </a:stretch>
        </p:blipFill>
        <p:spPr>
          <a:xfrm>
            <a:off x="2357476" y="1825625"/>
            <a:ext cx="7477048" cy="4351338"/>
          </a:xfrm>
          <a:prstGeom prst="rect">
            <a:avLst/>
          </a:prstGeom>
        </p:spPr>
      </p:pic>
    </p:spTree>
    <p:extLst>
      <p:ext uri="{BB962C8B-B14F-4D97-AF65-F5344CB8AC3E}">
        <p14:creationId xmlns:p14="http://schemas.microsoft.com/office/powerpoint/2010/main" val="1567982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of Functional Decomposition:</a:t>
            </a:r>
          </a:p>
        </p:txBody>
      </p:sp>
      <p:pic>
        <p:nvPicPr>
          <p:cNvPr id="1026" name="Picture 2" descr="Final year eCommerce project shopping process model, functional diagra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3290" y="1465407"/>
            <a:ext cx="8225420" cy="5277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259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Cohesion and Coupling</a:t>
            </a:r>
          </a:p>
        </p:txBody>
      </p:sp>
      <p:sp>
        <p:nvSpPr>
          <p:cNvPr id="3" name="Content Placeholder 2"/>
          <p:cNvSpPr>
            <a:spLocks noGrp="1"/>
          </p:cNvSpPr>
          <p:nvPr>
            <p:ph idx="1"/>
          </p:nvPr>
        </p:nvSpPr>
        <p:spPr/>
        <p:txBody>
          <a:bodyPr>
            <a:normAutofit/>
          </a:bodyPr>
          <a:lstStyle/>
          <a:p>
            <a:pPr algn="just"/>
            <a:r>
              <a:rPr lang="en-US" dirty="0"/>
              <a:t>Cohesion and Coupling are two important terminologies in software engineering. Both of them relate to the interconnection between different parts of a system. Thus, there appears to be some similarity between the two. </a:t>
            </a:r>
          </a:p>
          <a:p>
            <a:pPr algn="just"/>
            <a:r>
              <a:rPr lang="en-US" dirty="0"/>
              <a:t>Developers need to keep track of the coupling between the modules as in case of no records, there would be a lot of time spent on checking and rechecking the changes in the system. Also, they need to understand whether high or low cohesion/coupling is preferred to better design the system.</a:t>
            </a:r>
          </a:p>
          <a:p>
            <a:pPr marL="0" indent="0" algn="just">
              <a:buNone/>
            </a:pPr>
            <a:r>
              <a:rPr lang="en-US" sz="2000" dirty="0"/>
              <a:t>For more info. :</a:t>
            </a:r>
          </a:p>
          <a:p>
            <a:pPr marL="0" indent="0" algn="just">
              <a:buNone/>
            </a:pPr>
            <a:r>
              <a:rPr lang="en-US" sz="2000" dirty="0"/>
              <a:t>https://dare2compete.com/blog/react-project-ideas</a:t>
            </a:r>
          </a:p>
        </p:txBody>
      </p:sp>
    </p:spTree>
    <p:extLst>
      <p:ext uri="{BB962C8B-B14F-4D97-AF65-F5344CB8AC3E}">
        <p14:creationId xmlns:p14="http://schemas.microsoft.com/office/powerpoint/2010/main" val="917719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Cohesion</a:t>
            </a:r>
          </a:p>
        </p:txBody>
      </p:sp>
      <p:sp>
        <p:nvSpPr>
          <p:cNvPr id="3" name="Content Placeholder 2"/>
          <p:cNvSpPr>
            <a:spLocks noGrp="1"/>
          </p:cNvSpPr>
          <p:nvPr>
            <p:ph idx="1"/>
          </p:nvPr>
        </p:nvSpPr>
        <p:spPr>
          <a:xfrm>
            <a:off x="838200" y="1825625"/>
            <a:ext cx="10515600" cy="2570884"/>
          </a:xfrm>
        </p:spPr>
        <p:txBody>
          <a:bodyPr>
            <a:normAutofit/>
          </a:bodyPr>
          <a:lstStyle/>
          <a:p>
            <a:pPr marL="0" indent="0" algn="just">
              <a:buNone/>
            </a:pPr>
            <a:r>
              <a:rPr lang="en-US" dirty="0"/>
              <a:t>Cohesion is the indication of the relationship within module. It is concept of intra-module. Cohesion has many types but usually highly cohesion is good for software.</a:t>
            </a:r>
          </a:p>
          <a:p>
            <a:pPr marL="0" indent="0" algn="just">
              <a:buNone/>
            </a:pPr>
            <a:endParaRPr lang="en-US" dirty="0"/>
          </a:p>
          <a:p>
            <a:pPr algn="just"/>
            <a:endParaRPr lang="en-US" dirty="0"/>
          </a:p>
          <a:p>
            <a:pPr algn="just"/>
            <a:endParaRPr lang="en-US" dirty="0"/>
          </a:p>
        </p:txBody>
      </p:sp>
      <p:pic>
        <p:nvPicPr>
          <p:cNvPr id="5" name="Picture 4"/>
          <p:cNvPicPr>
            <a:picLocks noChangeAspect="1"/>
          </p:cNvPicPr>
          <p:nvPr/>
        </p:nvPicPr>
        <p:blipFill>
          <a:blip r:embed="rId3"/>
          <a:stretch>
            <a:fillRect/>
          </a:stretch>
        </p:blipFill>
        <p:spPr>
          <a:xfrm>
            <a:off x="3435154" y="3287960"/>
            <a:ext cx="5321692" cy="3264235"/>
          </a:xfrm>
          <a:prstGeom prst="rect">
            <a:avLst/>
          </a:prstGeom>
        </p:spPr>
      </p:pic>
    </p:spTree>
    <p:extLst>
      <p:ext uri="{BB962C8B-B14F-4D97-AF65-F5344CB8AC3E}">
        <p14:creationId xmlns:p14="http://schemas.microsoft.com/office/powerpoint/2010/main" val="3433365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Coupling</a:t>
            </a:r>
            <a:endParaRPr lang="en-US" dirty="0"/>
          </a:p>
        </p:txBody>
      </p:sp>
      <p:sp>
        <p:nvSpPr>
          <p:cNvPr id="3" name="Content Placeholder 2"/>
          <p:cNvSpPr>
            <a:spLocks noGrp="1"/>
          </p:cNvSpPr>
          <p:nvPr>
            <p:ph idx="1"/>
          </p:nvPr>
        </p:nvSpPr>
        <p:spPr/>
        <p:txBody>
          <a:bodyPr/>
          <a:lstStyle/>
          <a:p>
            <a:pPr marL="0" indent="0" algn="just">
              <a:buNone/>
            </a:pPr>
            <a:r>
              <a:rPr lang="en-US" dirty="0"/>
              <a:t>Coupling is also the indication of the relationships between modules. It is concept of Inter-module. Coupling has also many types but usually low coupling is good for software.</a:t>
            </a:r>
          </a:p>
          <a:p>
            <a:pPr algn="just"/>
            <a:endParaRPr lang="en-US" dirty="0"/>
          </a:p>
          <a:p>
            <a:pPr algn="just"/>
            <a:endParaRPr lang="en-US" dirty="0"/>
          </a:p>
        </p:txBody>
      </p:sp>
      <p:pic>
        <p:nvPicPr>
          <p:cNvPr id="4" name="Picture 4" descr="Software Engineering | Coupling and Cohesion - javatpoi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7611" y="3624119"/>
            <a:ext cx="5375562" cy="2687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901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Cohesion and Coupling:</a:t>
            </a:r>
          </a:p>
        </p:txBody>
      </p:sp>
      <p:pic>
        <p:nvPicPr>
          <p:cNvPr id="1026" name="Picture 2" descr="Difference between Cohesion and Coupling | Programmerba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77523" y="2068151"/>
            <a:ext cx="7625572" cy="3344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3582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cohesion and coupling</a:t>
            </a:r>
          </a:p>
        </p:txBody>
      </p:sp>
      <p:pic>
        <p:nvPicPr>
          <p:cNvPr id="2050" name="Picture 2" descr="Software Engineering | Differences between Coupling and Cohesion -  GeeksforGeek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14837" y="2353468"/>
            <a:ext cx="3833236" cy="3757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735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r>
              <a:rPr lang="en-US" dirty="0"/>
              <a:t>What is Modular Decomposition? Give some examples.</a:t>
            </a:r>
          </a:p>
          <a:p>
            <a:r>
              <a:rPr lang="en-US" dirty="0"/>
              <a:t>Differentiate between Cohesion and Coupling.</a:t>
            </a:r>
          </a:p>
        </p:txBody>
      </p:sp>
    </p:spTree>
    <p:extLst>
      <p:ext uri="{BB962C8B-B14F-4D97-AF65-F5344CB8AC3E}">
        <p14:creationId xmlns:p14="http://schemas.microsoft.com/office/powerpoint/2010/main" val="400381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Architectural Pattern/Style:</a:t>
            </a:r>
          </a:p>
        </p:txBody>
      </p:sp>
      <p:sp>
        <p:nvSpPr>
          <p:cNvPr id="3" name="Content Placeholder 2"/>
          <p:cNvSpPr>
            <a:spLocks noGrp="1"/>
          </p:cNvSpPr>
          <p:nvPr>
            <p:ph idx="1"/>
          </p:nvPr>
        </p:nvSpPr>
        <p:spPr/>
        <p:txBody>
          <a:bodyPr>
            <a:normAutofit/>
          </a:bodyPr>
          <a:lstStyle/>
          <a:p>
            <a:pPr algn="just"/>
            <a:r>
              <a:rPr lang="en-US" b="0" i="0" dirty="0">
                <a:solidFill>
                  <a:srgbClr val="0D0D0D"/>
                </a:solidFill>
                <a:effectLst/>
                <a:latin typeface="Söhne"/>
              </a:rPr>
              <a:t>In software engineering, an architectural style refers to a set of principles, conventions, and practices used to design and structure software systems.</a:t>
            </a:r>
          </a:p>
          <a:p>
            <a:pPr algn="just">
              <a:buFont typeface="Arial" panose="020B0604020202020204" pitchFamily="34" charset="0"/>
              <a:buChar char="•"/>
            </a:pPr>
            <a:r>
              <a:rPr lang="en-US" b="0" i="0" dirty="0">
                <a:solidFill>
                  <a:srgbClr val="0D0D0D"/>
                </a:solidFill>
                <a:effectLst/>
                <a:latin typeface="Söhne"/>
              </a:rPr>
              <a:t>Architectural styles provide a high-level blueprint for organizing system components, defining their interactions, and addressing common design concerns.</a:t>
            </a:r>
          </a:p>
          <a:p>
            <a:pPr algn="just"/>
            <a:r>
              <a:rPr lang="en-US" dirty="0"/>
              <a:t>Architectural patterns help software architects and developers to design systems that are flexible, maintainable, and scalable. They provide a proven approach for addressing common problems, such as managing data persistence, handling user interfaces, and structuring the interaction between components.</a:t>
            </a:r>
          </a:p>
          <a:p>
            <a:pPr algn="just"/>
            <a:endParaRPr lang="en-US" dirty="0"/>
          </a:p>
        </p:txBody>
      </p:sp>
    </p:spTree>
    <p:extLst>
      <p:ext uri="{BB962C8B-B14F-4D97-AF65-F5344CB8AC3E}">
        <p14:creationId xmlns:p14="http://schemas.microsoft.com/office/powerpoint/2010/main" val="3198666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44FBF-A5EC-5DD5-B06A-F019A21C9DB4}"/>
              </a:ext>
            </a:extLst>
          </p:cNvPr>
          <p:cNvSpPr>
            <a:spLocks noGrp="1"/>
          </p:cNvSpPr>
          <p:nvPr>
            <p:ph type="title"/>
          </p:nvPr>
        </p:nvSpPr>
        <p:spPr/>
        <p:txBody>
          <a:bodyPr/>
          <a:lstStyle/>
          <a:p>
            <a:r>
              <a:rPr lang="en-US" b="1" dirty="0"/>
              <a:t>Architectural Styles includes</a:t>
            </a:r>
          </a:p>
        </p:txBody>
      </p:sp>
      <p:sp>
        <p:nvSpPr>
          <p:cNvPr id="3" name="Content Placeholder 2">
            <a:extLst>
              <a:ext uri="{FF2B5EF4-FFF2-40B4-BE49-F238E27FC236}">
                <a16:creationId xmlns:a16="http://schemas.microsoft.com/office/drawing/2014/main" id="{9380E8F6-0275-25A1-A0C3-A6CC86E1E79F}"/>
              </a:ext>
            </a:extLst>
          </p:cNvPr>
          <p:cNvSpPr>
            <a:spLocks noGrp="1"/>
          </p:cNvSpPr>
          <p:nvPr>
            <p:ph idx="1"/>
          </p:nvPr>
        </p:nvSpPr>
        <p:spPr/>
        <p:txBody>
          <a:bodyPr/>
          <a:lstStyle/>
          <a:p>
            <a:r>
              <a:rPr lang="en-US" dirty="0"/>
              <a:t>Client server architecture</a:t>
            </a:r>
          </a:p>
          <a:p>
            <a:r>
              <a:rPr lang="en-US" dirty="0"/>
              <a:t>Layered architecture</a:t>
            </a:r>
          </a:p>
          <a:p>
            <a:r>
              <a:rPr lang="en-US" dirty="0"/>
              <a:t>Repository architecture</a:t>
            </a:r>
          </a:p>
          <a:p>
            <a:r>
              <a:rPr lang="en-US" dirty="0"/>
              <a:t>Pipe and filter architecture</a:t>
            </a:r>
          </a:p>
          <a:p>
            <a:r>
              <a:rPr lang="en-US" dirty="0"/>
              <a:t>MVC architecture</a:t>
            </a:r>
          </a:p>
          <a:p>
            <a:endParaRPr lang="en-US" dirty="0"/>
          </a:p>
        </p:txBody>
      </p:sp>
    </p:spTree>
    <p:extLst>
      <p:ext uri="{BB962C8B-B14F-4D97-AF65-F5344CB8AC3E}">
        <p14:creationId xmlns:p14="http://schemas.microsoft.com/office/powerpoint/2010/main" val="1055081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a:t>
            </a:r>
          </a:p>
        </p:txBody>
      </p:sp>
      <p:sp>
        <p:nvSpPr>
          <p:cNvPr id="3" name="Content Placeholder 2"/>
          <p:cNvSpPr>
            <a:spLocks noGrp="1"/>
          </p:cNvSpPr>
          <p:nvPr>
            <p:ph idx="1"/>
          </p:nvPr>
        </p:nvSpPr>
        <p:spPr/>
        <p:txBody>
          <a:bodyPr>
            <a:normAutofit/>
          </a:bodyPr>
          <a:lstStyle/>
          <a:p>
            <a:pPr algn="just"/>
            <a:r>
              <a:rPr lang="en-US" dirty="0"/>
              <a:t>The client-server architectural pattern is a widely used pattern in software engineering, particularly in networked applications. It is based on the idea of dividing the application into two parts: the client and the server.</a:t>
            </a:r>
          </a:p>
          <a:p>
            <a:pPr algn="just"/>
            <a:r>
              <a:rPr lang="en-US" dirty="0"/>
              <a:t>In this pattern, the client is a user interface or application that runs on the user's device, such as a computer or a smartphone. The server is a centralized component that provides services or resources to multiple clients over a network.</a:t>
            </a:r>
          </a:p>
          <a:p>
            <a:pPr algn="just"/>
            <a:r>
              <a:rPr lang="en-US" dirty="0"/>
              <a:t>The client sends requests to the server for specific tasks or data, and the server responds by providing the requested information or performing the requested action. This communication is typically done using a protocol such as HTTP, TCP/IP, or </a:t>
            </a:r>
            <a:r>
              <a:rPr lang="en-US" dirty="0" err="1"/>
              <a:t>WebSocket</a:t>
            </a:r>
            <a:r>
              <a:rPr lang="en-US" dirty="0"/>
              <a:t>.</a:t>
            </a:r>
          </a:p>
        </p:txBody>
      </p:sp>
    </p:spTree>
    <p:extLst>
      <p:ext uri="{BB962C8B-B14F-4D97-AF65-F5344CB8AC3E}">
        <p14:creationId xmlns:p14="http://schemas.microsoft.com/office/powerpoint/2010/main" val="1551363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client server architecture</a:t>
            </a:r>
          </a:p>
        </p:txBody>
      </p:sp>
      <p:sp>
        <p:nvSpPr>
          <p:cNvPr id="3" name="Content Placeholder 2"/>
          <p:cNvSpPr>
            <a:spLocks noGrp="1"/>
          </p:cNvSpPr>
          <p:nvPr>
            <p:ph idx="1"/>
          </p:nvPr>
        </p:nvSpPr>
        <p:spPr>
          <a:xfrm>
            <a:off x="838200" y="1690688"/>
            <a:ext cx="11039573" cy="4801418"/>
          </a:xfrm>
        </p:spPr>
        <p:txBody>
          <a:bodyPr>
            <a:normAutofit/>
          </a:bodyPr>
          <a:lstStyle/>
          <a:p>
            <a:pPr marL="0" indent="0" algn="just">
              <a:buNone/>
            </a:pPr>
            <a:r>
              <a:rPr lang="en-US" dirty="0"/>
              <a:t>Some of the benefits of using the client-server architectural pattern include:</a:t>
            </a:r>
          </a:p>
          <a:p>
            <a:pPr algn="just"/>
            <a:r>
              <a:rPr lang="en-US" dirty="0"/>
              <a:t>Scalability: The server can handle a large number of clients, and additional servers can be added to handle increased demand.</a:t>
            </a:r>
          </a:p>
          <a:p>
            <a:pPr algn="just"/>
            <a:r>
              <a:rPr lang="en-US" dirty="0"/>
              <a:t>Security: The server can control access to resources and enforce security policies to protect sensitive data.</a:t>
            </a:r>
          </a:p>
          <a:p>
            <a:pPr algn="just"/>
            <a:r>
              <a:rPr lang="en-US" dirty="0"/>
              <a:t>Centralized management: The server can manage and maintain resources, such as databases and files, in a centralized location.</a:t>
            </a:r>
          </a:p>
          <a:p>
            <a:pPr algn="just"/>
            <a:r>
              <a:rPr lang="en-US" dirty="0"/>
              <a:t>Flexibility: The client can be designed to work with different servers, and the server can be designed to provide different services to different clients.</a:t>
            </a:r>
          </a:p>
          <a:p>
            <a:pPr marL="0" indent="0" algn="just">
              <a:buNone/>
            </a:pPr>
            <a:r>
              <a:rPr lang="en-US" dirty="0"/>
              <a:t>Examples of applications that use the client-server architectural pattern include web applications, online games, and file sharing services.</a:t>
            </a:r>
          </a:p>
        </p:txBody>
      </p:sp>
    </p:spTree>
    <p:extLst>
      <p:ext uri="{BB962C8B-B14F-4D97-AF65-F5344CB8AC3E}">
        <p14:creationId xmlns:p14="http://schemas.microsoft.com/office/powerpoint/2010/main" val="7335872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 for a film library</a:t>
            </a:r>
          </a:p>
        </p:txBody>
      </p:sp>
      <p:pic>
        <p:nvPicPr>
          <p:cNvPr id="4" name="Content Placeholder 3"/>
          <p:cNvPicPr>
            <a:picLocks noGrp="1" noChangeAspect="1"/>
          </p:cNvPicPr>
          <p:nvPr>
            <p:ph idx="1"/>
          </p:nvPr>
        </p:nvPicPr>
        <p:blipFill>
          <a:blip r:embed="rId2"/>
          <a:stretch>
            <a:fillRect/>
          </a:stretch>
        </p:blipFill>
        <p:spPr>
          <a:xfrm>
            <a:off x="2537247" y="1813237"/>
            <a:ext cx="8039628" cy="4720870"/>
          </a:xfrm>
          <a:prstGeom prst="rect">
            <a:avLst/>
          </a:prstGeom>
        </p:spPr>
      </p:pic>
    </p:spTree>
    <p:extLst>
      <p:ext uri="{BB962C8B-B14F-4D97-AF65-F5344CB8AC3E}">
        <p14:creationId xmlns:p14="http://schemas.microsoft.com/office/powerpoint/2010/main" val="3909178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pattern</a:t>
            </a:r>
          </a:p>
        </p:txBody>
      </p:sp>
      <p:pic>
        <p:nvPicPr>
          <p:cNvPr id="4" name="Content Placeholder 3"/>
          <p:cNvPicPr>
            <a:picLocks noGrp="1" noChangeAspect="1"/>
          </p:cNvPicPr>
          <p:nvPr>
            <p:ph idx="1"/>
          </p:nvPr>
        </p:nvPicPr>
        <p:blipFill>
          <a:blip r:embed="rId2"/>
          <a:stretch>
            <a:fillRect/>
          </a:stretch>
        </p:blipFill>
        <p:spPr>
          <a:xfrm>
            <a:off x="1502323" y="1974796"/>
            <a:ext cx="9630609" cy="4237468"/>
          </a:xfrm>
          <a:prstGeom prst="rect">
            <a:avLst/>
          </a:prstGeom>
        </p:spPr>
      </p:pic>
    </p:spTree>
    <p:extLst>
      <p:ext uri="{BB962C8B-B14F-4D97-AF65-F5344CB8AC3E}">
        <p14:creationId xmlns:p14="http://schemas.microsoft.com/office/powerpoint/2010/main" val="22544694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Layered Architecture</a:t>
            </a:r>
          </a:p>
        </p:txBody>
      </p:sp>
      <p:sp>
        <p:nvSpPr>
          <p:cNvPr id="3" name="Content Placeholder 2"/>
          <p:cNvSpPr>
            <a:spLocks noGrp="1"/>
          </p:cNvSpPr>
          <p:nvPr>
            <p:ph idx="1"/>
          </p:nvPr>
        </p:nvSpPr>
        <p:spPr/>
        <p:txBody>
          <a:bodyPr>
            <a:normAutofit fontScale="92500" lnSpcReduction="10000"/>
          </a:bodyPr>
          <a:lstStyle/>
          <a:p>
            <a:pPr algn="just"/>
            <a:r>
              <a:rPr lang="en-US" dirty="0"/>
              <a:t>Layered architecture is a software design pattern that separates an application into a set of horizontal layers, each with a specific responsibility. Each layer is designed to perform a well-defined set of tasks, and communication between the layers follows a strict hierarchy.</a:t>
            </a:r>
          </a:p>
          <a:p>
            <a:pPr marL="0" indent="0" algn="just">
              <a:buNone/>
            </a:pPr>
            <a:r>
              <a:rPr lang="en-US" dirty="0"/>
              <a:t>Typically, a layered architecture consists of three or more layers. The most common layers are:</a:t>
            </a:r>
          </a:p>
          <a:p>
            <a:pPr algn="just"/>
            <a:r>
              <a:rPr lang="en-US" dirty="0"/>
              <a:t>Presentation layer: This layer handles user interaction and typically includes the user interface components such as forms, dialogs, and web pages.</a:t>
            </a:r>
          </a:p>
          <a:p>
            <a:pPr algn="just"/>
            <a:r>
              <a:rPr lang="en-US" dirty="0"/>
              <a:t>Business logic layer: This layer contains the application's core logic and rules that process and manipulate data. It is responsible for implementing the business logic of the application.</a:t>
            </a:r>
          </a:p>
          <a:p>
            <a:pPr algn="just"/>
            <a:r>
              <a:rPr lang="en-US" dirty="0"/>
              <a:t>Data access layer: This layer provides an interface to access data from various sources, such as databases or web services. It is responsible for managing data storage and retrieval operations.</a:t>
            </a:r>
          </a:p>
        </p:txBody>
      </p:sp>
    </p:spTree>
    <p:extLst>
      <p:ext uri="{BB962C8B-B14F-4D97-AF65-F5344CB8AC3E}">
        <p14:creationId xmlns:p14="http://schemas.microsoft.com/office/powerpoint/2010/main" val="640216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Layered Architecture</a:t>
            </a:r>
          </a:p>
        </p:txBody>
      </p:sp>
      <p:sp>
        <p:nvSpPr>
          <p:cNvPr id="3" name="Content Placeholder 2"/>
          <p:cNvSpPr>
            <a:spLocks noGrp="1"/>
          </p:cNvSpPr>
          <p:nvPr>
            <p:ph idx="1"/>
          </p:nvPr>
        </p:nvSpPr>
        <p:spPr/>
        <p:txBody>
          <a:bodyPr>
            <a:normAutofit/>
          </a:bodyPr>
          <a:lstStyle/>
          <a:p>
            <a:pPr marL="0" indent="0" algn="just">
              <a:buNone/>
            </a:pPr>
            <a:r>
              <a:rPr lang="en-US" dirty="0"/>
              <a:t>The main benefits of using a layered architecture are:</a:t>
            </a:r>
          </a:p>
          <a:p>
            <a:pPr algn="just"/>
            <a:r>
              <a:rPr lang="en-US" dirty="0"/>
              <a:t>Separation of concerns: Each layer has a specific responsibility, which makes it easier to maintain and update the application.</a:t>
            </a:r>
          </a:p>
          <a:p>
            <a:pPr algn="just"/>
            <a:r>
              <a:rPr lang="en-US" dirty="0"/>
              <a:t>Modularity: The application is divided into a set of smaller, self-contained components that can be developed and tested independently.</a:t>
            </a:r>
          </a:p>
          <a:p>
            <a:pPr algn="just"/>
            <a:r>
              <a:rPr lang="en-US" dirty="0"/>
              <a:t>Reusability: The components in each layer can be reused in other applications.</a:t>
            </a:r>
          </a:p>
          <a:p>
            <a:pPr algn="just"/>
            <a:r>
              <a:rPr lang="en-US" dirty="0"/>
              <a:t>Scalability: The layers can be distributed across multiple servers, which makes it easier to scale the application as needed.</a:t>
            </a:r>
          </a:p>
          <a:p>
            <a:pPr algn="just"/>
            <a:r>
              <a:rPr lang="en-US" dirty="0"/>
              <a:t>Testability: The layers can be tested independently, which makes it easier to identify and fix issues.</a:t>
            </a:r>
          </a:p>
        </p:txBody>
      </p:sp>
    </p:spTree>
    <p:extLst>
      <p:ext uri="{BB962C8B-B14F-4D97-AF65-F5344CB8AC3E}">
        <p14:creationId xmlns:p14="http://schemas.microsoft.com/office/powerpoint/2010/main" val="2178783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Layered Architecture</a:t>
            </a:r>
          </a:p>
        </p:txBody>
      </p:sp>
      <p:pic>
        <p:nvPicPr>
          <p:cNvPr id="4" name="Content Placeholder 3"/>
          <p:cNvPicPr>
            <a:picLocks noGrp="1" noChangeAspect="1"/>
          </p:cNvPicPr>
          <p:nvPr>
            <p:ph idx="1"/>
          </p:nvPr>
        </p:nvPicPr>
        <p:blipFill>
          <a:blip r:embed="rId3"/>
          <a:stretch>
            <a:fillRect/>
          </a:stretch>
        </p:blipFill>
        <p:spPr>
          <a:xfrm>
            <a:off x="3186280" y="1901117"/>
            <a:ext cx="6407680" cy="4956883"/>
          </a:xfrm>
          <a:prstGeom prst="rect">
            <a:avLst/>
          </a:prstGeom>
        </p:spPr>
      </p:pic>
    </p:spTree>
    <p:extLst>
      <p:ext uri="{BB962C8B-B14F-4D97-AF65-F5344CB8AC3E}">
        <p14:creationId xmlns:p14="http://schemas.microsoft.com/office/powerpoint/2010/main" val="2809332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Layered Architectural Pattern</a:t>
            </a:r>
          </a:p>
        </p:txBody>
      </p:sp>
      <p:pic>
        <p:nvPicPr>
          <p:cNvPr id="4" name="Content Placeholder 3"/>
          <p:cNvPicPr>
            <a:picLocks noGrp="1" noChangeAspect="1"/>
          </p:cNvPicPr>
          <p:nvPr>
            <p:ph idx="1"/>
          </p:nvPr>
        </p:nvPicPr>
        <p:blipFill>
          <a:blip r:embed="rId3"/>
          <a:stretch>
            <a:fillRect/>
          </a:stretch>
        </p:blipFill>
        <p:spPr>
          <a:xfrm>
            <a:off x="994124" y="1690688"/>
            <a:ext cx="10203751" cy="4502722"/>
          </a:xfrm>
          <a:prstGeom prst="rect">
            <a:avLst/>
          </a:prstGeom>
        </p:spPr>
      </p:pic>
    </p:spTree>
    <p:extLst>
      <p:ext uri="{BB962C8B-B14F-4D97-AF65-F5344CB8AC3E}">
        <p14:creationId xmlns:p14="http://schemas.microsoft.com/office/powerpoint/2010/main" val="2133081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Repository Architecture</a:t>
            </a:r>
          </a:p>
        </p:txBody>
      </p:sp>
      <p:sp>
        <p:nvSpPr>
          <p:cNvPr id="3" name="Content Placeholder 2"/>
          <p:cNvSpPr>
            <a:spLocks noGrp="1"/>
          </p:cNvSpPr>
          <p:nvPr>
            <p:ph idx="1"/>
          </p:nvPr>
        </p:nvSpPr>
        <p:spPr/>
        <p:txBody>
          <a:bodyPr/>
          <a:lstStyle/>
          <a:p>
            <a:pPr marL="0" indent="0">
              <a:buNone/>
            </a:pPr>
            <a:r>
              <a:rPr lang="en-US" dirty="0"/>
              <a:t>• Data is stored in a central shared repository. </a:t>
            </a:r>
          </a:p>
          <a:p>
            <a:pPr marL="0" indent="0">
              <a:buNone/>
            </a:pPr>
            <a:r>
              <a:rPr lang="en-US" dirty="0"/>
              <a:t>• Components interact through the repository only. </a:t>
            </a:r>
          </a:p>
          <a:p>
            <a:pPr marL="0" indent="0">
              <a:buNone/>
            </a:pPr>
            <a:r>
              <a:rPr lang="en-US" dirty="0"/>
              <a:t>• Suited to applications whose data is generated by one component and used by another. </a:t>
            </a:r>
          </a:p>
          <a:p>
            <a:pPr marL="0" indent="0">
              <a:buNone/>
            </a:pPr>
            <a:r>
              <a:rPr lang="en-US" dirty="0"/>
              <a:t>• Advantages: - Components are independent/separate.</a:t>
            </a:r>
          </a:p>
          <a:p>
            <a:pPr marL="0" indent="0">
              <a:buNone/>
            </a:pPr>
            <a:r>
              <a:rPr lang="en-US" dirty="0"/>
              <a:t>		    - Changes to data are automatically available to other 	   		       components. </a:t>
            </a:r>
          </a:p>
          <a:p>
            <a:pPr marL="0" indent="0">
              <a:buNone/>
            </a:pPr>
            <a:r>
              <a:rPr lang="en-US" dirty="0"/>
              <a:t>• Communication between components may be inefficient.</a:t>
            </a:r>
          </a:p>
        </p:txBody>
      </p:sp>
    </p:spTree>
    <p:extLst>
      <p:ext uri="{BB962C8B-B14F-4D97-AF65-F5344CB8AC3E}">
        <p14:creationId xmlns:p14="http://schemas.microsoft.com/office/powerpoint/2010/main" val="3056238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Repository Architecture</a:t>
            </a:r>
            <a:endParaRPr lang="en-US" dirty="0"/>
          </a:p>
        </p:txBody>
      </p:sp>
      <p:pic>
        <p:nvPicPr>
          <p:cNvPr id="4" name="Content Placeholder 3"/>
          <p:cNvPicPr>
            <a:picLocks noGrp="1" noChangeAspect="1"/>
          </p:cNvPicPr>
          <p:nvPr>
            <p:ph idx="1"/>
          </p:nvPr>
        </p:nvPicPr>
        <p:blipFill>
          <a:blip r:embed="rId3"/>
          <a:stretch>
            <a:fillRect/>
          </a:stretch>
        </p:blipFill>
        <p:spPr>
          <a:xfrm>
            <a:off x="1395261" y="1803810"/>
            <a:ext cx="9557637" cy="4417881"/>
          </a:xfrm>
          <a:prstGeom prst="rect">
            <a:avLst/>
          </a:prstGeom>
        </p:spPr>
      </p:pic>
    </p:spTree>
    <p:extLst>
      <p:ext uri="{BB962C8B-B14F-4D97-AF65-F5344CB8AC3E}">
        <p14:creationId xmlns:p14="http://schemas.microsoft.com/office/powerpoint/2010/main" val="1263798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Repository Architecture</a:t>
            </a:r>
            <a:endParaRPr lang="en-US" dirty="0"/>
          </a:p>
        </p:txBody>
      </p:sp>
      <p:pic>
        <p:nvPicPr>
          <p:cNvPr id="4" name="Content Placeholder 3"/>
          <p:cNvPicPr>
            <a:picLocks noGrp="1" noChangeAspect="1"/>
          </p:cNvPicPr>
          <p:nvPr>
            <p:ph idx="1"/>
          </p:nvPr>
        </p:nvPicPr>
        <p:blipFill>
          <a:blip r:embed="rId3"/>
          <a:stretch>
            <a:fillRect/>
          </a:stretch>
        </p:blipFill>
        <p:spPr>
          <a:xfrm>
            <a:off x="1718920" y="1814541"/>
            <a:ext cx="9153100" cy="4303455"/>
          </a:xfrm>
          <a:prstGeom prst="rect">
            <a:avLst/>
          </a:prstGeom>
        </p:spPr>
      </p:pic>
    </p:spTree>
    <p:extLst>
      <p:ext uri="{BB962C8B-B14F-4D97-AF65-F5344CB8AC3E}">
        <p14:creationId xmlns:p14="http://schemas.microsoft.com/office/powerpoint/2010/main" val="13570506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Pipe and Filter Architecture</a:t>
            </a:r>
          </a:p>
        </p:txBody>
      </p:sp>
      <p:sp>
        <p:nvSpPr>
          <p:cNvPr id="3" name="Content Placeholder 2"/>
          <p:cNvSpPr>
            <a:spLocks noGrp="1"/>
          </p:cNvSpPr>
          <p:nvPr>
            <p:ph idx="1"/>
          </p:nvPr>
        </p:nvSpPr>
        <p:spPr/>
        <p:txBody>
          <a:bodyPr/>
          <a:lstStyle/>
          <a:p>
            <a:r>
              <a:rPr lang="en-US" dirty="0"/>
              <a:t>A series of transformations on data </a:t>
            </a:r>
          </a:p>
          <a:p>
            <a:r>
              <a:rPr lang="en-US" dirty="0"/>
              <a:t> Composed of: - A set of “filters”, each one transforming some input            		         stream into an output stream. </a:t>
            </a:r>
          </a:p>
          <a:p>
            <a:pPr marL="0" indent="0">
              <a:buNone/>
            </a:pPr>
            <a:r>
              <a:rPr lang="en-US" dirty="0"/>
              <a:t>		       - Pipes connecting the filters. </a:t>
            </a:r>
          </a:p>
          <a:p>
            <a:r>
              <a:rPr lang="en-US" dirty="0"/>
              <a:t> Data is transformed as it moves through the system. </a:t>
            </a:r>
          </a:p>
          <a:p>
            <a:r>
              <a:rPr lang="en-US" dirty="0"/>
              <a:t> Transformations can be run concurrently. </a:t>
            </a:r>
          </a:p>
          <a:p>
            <a:r>
              <a:rPr lang="en-US" dirty="0"/>
              <a:t> Commonly used in batch processing systems and embedded control systems. </a:t>
            </a:r>
          </a:p>
          <a:p>
            <a:r>
              <a:rPr lang="en-US" dirty="0"/>
              <a:t>Difficult to use for interactive systems.</a:t>
            </a:r>
          </a:p>
        </p:txBody>
      </p:sp>
    </p:spTree>
    <p:extLst>
      <p:ext uri="{BB962C8B-B14F-4D97-AF65-F5344CB8AC3E}">
        <p14:creationId xmlns:p14="http://schemas.microsoft.com/office/powerpoint/2010/main" val="14093860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Pipe and Filter Architecture</a:t>
            </a:r>
            <a:endParaRPr lang="en-US" dirty="0"/>
          </a:p>
        </p:txBody>
      </p:sp>
      <p:pic>
        <p:nvPicPr>
          <p:cNvPr id="4" name="Content Placeholder 3"/>
          <p:cNvPicPr>
            <a:picLocks noGrp="1" noChangeAspect="1"/>
          </p:cNvPicPr>
          <p:nvPr>
            <p:ph idx="1"/>
          </p:nvPr>
        </p:nvPicPr>
        <p:blipFill>
          <a:blip r:embed="rId3"/>
          <a:stretch>
            <a:fillRect/>
          </a:stretch>
        </p:blipFill>
        <p:spPr>
          <a:xfrm>
            <a:off x="2208986" y="1964064"/>
            <a:ext cx="8301196" cy="4512149"/>
          </a:xfrm>
          <a:prstGeom prst="rect">
            <a:avLst/>
          </a:prstGeom>
        </p:spPr>
      </p:pic>
    </p:spTree>
    <p:extLst>
      <p:ext uri="{BB962C8B-B14F-4D97-AF65-F5344CB8AC3E}">
        <p14:creationId xmlns:p14="http://schemas.microsoft.com/office/powerpoint/2010/main" val="14082414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Pipe and Filter Architecture</a:t>
            </a:r>
            <a:endParaRPr lang="en-US" dirty="0"/>
          </a:p>
        </p:txBody>
      </p:sp>
      <p:pic>
        <p:nvPicPr>
          <p:cNvPr id="7" name="Picture 6">
            <a:extLst>
              <a:ext uri="{FF2B5EF4-FFF2-40B4-BE49-F238E27FC236}">
                <a16:creationId xmlns:a16="http://schemas.microsoft.com/office/drawing/2014/main" id="{8C50F20A-024B-41C4-82F9-5047988BA23B}"/>
              </a:ext>
            </a:extLst>
          </p:cNvPr>
          <p:cNvPicPr>
            <a:picLocks noChangeAspect="1"/>
          </p:cNvPicPr>
          <p:nvPr/>
        </p:nvPicPr>
        <p:blipFill>
          <a:blip r:embed="rId3"/>
          <a:stretch>
            <a:fillRect/>
          </a:stretch>
        </p:blipFill>
        <p:spPr>
          <a:xfrm>
            <a:off x="1384039" y="1923915"/>
            <a:ext cx="8919457" cy="4449453"/>
          </a:xfrm>
          <a:prstGeom prst="rect">
            <a:avLst/>
          </a:prstGeom>
        </p:spPr>
      </p:pic>
    </p:spTree>
    <p:extLst>
      <p:ext uri="{BB962C8B-B14F-4D97-AF65-F5344CB8AC3E}">
        <p14:creationId xmlns:p14="http://schemas.microsoft.com/office/powerpoint/2010/main" val="15176841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Pipe and Filter Architecture</a:t>
            </a:r>
            <a:endParaRPr lang="en-US" dirty="0"/>
          </a:p>
        </p:txBody>
      </p:sp>
      <p:pic>
        <p:nvPicPr>
          <p:cNvPr id="4" name="Content Placeholder 3"/>
          <p:cNvPicPr>
            <a:picLocks noGrp="1" noChangeAspect="1"/>
          </p:cNvPicPr>
          <p:nvPr>
            <p:ph idx="1"/>
          </p:nvPr>
        </p:nvPicPr>
        <p:blipFill>
          <a:blip r:embed="rId2"/>
          <a:stretch>
            <a:fillRect/>
          </a:stretch>
        </p:blipFill>
        <p:spPr>
          <a:xfrm>
            <a:off x="1709347" y="1937189"/>
            <a:ext cx="9232266" cy="4407050"/>
          </a:xfrm>
          <a:prstGeom prst="rect">
            <a:avLst/>
          </a:prstGeom>
        </p:spPr>
      </p:pic>
    </p:spTree>
    <p:extLst>
      <p:ext uri="{BB962C8B-B14F-4D97-AF65-F5344CB8AC3E}">
        <p14:creationId xmlns:p14="http://schemas.microsoft.com/office/powerpoint/2010/main" val="13140773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pPr marL="0" indent="0">
              <a:buNone/>
            </a:pPr>
            <a:r>
              <a:rPr lang="en-US" dirty="0"/>
              <a:t>Write short notes on</a:t>
            </a:r>
          </a:p>
          <a:p>
            <a:r>
              <a:rPr lang="en-US" dirty="0"/>
              <a:t>Layered architecture</a:t>
            </a:r>
          </a:p>
          <a:p>
            <a:r>
              <a:rPr lang="en-US" dirty="0"/>
              <a:t>Repository architecture</a:t>
            </a:r>
          </a:p>
          <a:p>
            <a:r>
              <a:rPr lang="en-US" dirty="0"/>
              <a:t>Pipe and filter architecture</a:t>
            </a:r>
          </a:p>
        </p:txBody>
      </p:sp>
    </p:spTree>
    <p:extLst>
      <p:ext uri="{BB962C8B-B14F-4D97-AF65-F5344CB8AC3E}">
        <p14:creationId xmlns:p14="http://schemas.microsoft.com/office/powerpoint/2010/main" val="9224128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Model-View-Controller (MVC) Pattern</a:t>
            </a:r>
          </a:p>
        </p:txBody>
      </p:sp>
      <p:sp>
        <p:nvSpPr>
          <p:cNvPr id="3" name="Content Placeholder 2"/>
          <p:cNvSpPr>
            <a:spLocks noGrp="1"/>
          </p:cNvSpPr>
          <p:nvPr>
            <p:ph idx="1"/>
          </p:nvPr>
        </p:nvSpPr>
        <p:spPr/>
        <p:txBody>
          <a:bodyPr/>
          <a:lstStyle/>
          <a:p>
            <a:r>
              <a:rPr lang="en-US" dirty="0"/>
              <a:t>Commonly used in desktop, mobile phone, and web applications. </a:t>
            </a:r>
          </a:p>
          <a:p>
            <a:r>
              <a:rPr lang="en-US" dirty="0"/>
              <a:t>Used to separate the data (the model) from the way it is presented to the user (the views) </a:t>
            </a:r>
          </a:p>
          <a:p>
            <a:r>
              <a:rPr lang="en-US" dirty="0"/>
              <a:t>Model objects encapsulate the data. </a:t>
            </a:r>
          </a:p>
          <a:p>
            <a:r>
              <a:rPr lang="en-US" dirty="0"/>
              <a:t>View objects present data to and receive actions from the user. </a:t>
            </a:r>
          </a:p>
          <a:p>
            <a:r>
              <a:rPr lang="en-US" dirty="0"/>
              <a:t>Controller Responds to user actions (from View) by updating Model (and View).</a:t>
            </a:r>
          </a:p>
        </p:txBody>
      </p:sp>
    </p:spTree>
    <p:extLst>
      <p:ext uri="{BB962C8B-B14F-4D97-AF65-F5344CB8AC3E}">
        <p14:creationId xmlns:p14="http://schemas.microsoft.com/office/powerpoint/2010/main" val="17377970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Model-View-Controller (MVC) Pattern</a:t>
            </a:r>
            <a:endParaRPr lang="en-US" dirty="0"/>
          </a:p>
        </p:txBody>
      </p:sp>
      <p:pic>
        <p:nvPicPr>
          <p:cNvPr id="4" name="Content Placeholder 3"/>
          <p:cNvPicPr>
            <a:picLocks noGrp="1" noChangeAspect="1"/>
          </p:cNvPicPr>
          <p:nvPr>
            <p:ph idx="1"/>
          </p:nvPr>
        </p:nvPicPr>
        <p:blipFill>
          <a:blip r:embed="rId2"/>
          <a:stretch>
            <a:fillRect/>
          </a:stretch>
        </p:blipFill>
        <p:spPr>
          <a:xfrm>
            <a:off x="3299187" y="1775530"/>
            <a:ext cx="5941694" cy="4785526"/>
          </a:xfrm>
          <a:prstGeom prst="rect">
            <a:avLst/>
          </a:prstGeom>
        </p:spPr>
      </p:pic>
    </p:spTree>
    <p:extLst>
      <p:ext uri="{BB962C8B-B14F-4D97-AF65-F5344CB8AC3E}">
        <p14:creationId xmlns:p14="http://schemas.microsoft.com/office/powerpoint/2010/main" val="34848918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Model-View-Controller (MVC) Pattern</a:t>
            </a:r>
            <a:endParaRPr lang="en-US" dirty="0"/>
          </a:p>
        </p:txBody>
      </p:sp>
      <p:pic>
        <p:nvPicPr>
          <p:cNvPr id="4" name="Content Placeholder 3"/>
          <p:cNvPicPr>
            <a:picLocks noGrp="1" noChangeAspect="1"/>
          </p:cNvPicPr>
          <p:nvPr>
            <p:ph idx="1"/>
          </p:nvPr>
        </p:nvPicPr>
        <p:blipFill>
          <a:blip r:embed="rId3"/>
          <a:stretch>
            <a:fillRect/>
          </a:stretch>
        </p:blipFill>
        <p:spPr>
          <a:xfrm>
            <a:off x="3066071" y="1690688"/>
            <a:ext cx="6935926" cy="4672405"/>
          </a:xfrm>
          <a:prstGeom prst="rect">
            <a:avLst/>
          </a:prstGeom>
        </p:spPr>
      </p:pic>
    </p:spTree>
    <p:extLst>
      <p:ext uri="{BB962C8B-B14F-4D97-AF65-F5344CB8AC3E}">
        <p14:creationId xmlns:p14="http://schemas.microsoft.com/office/powerpoint/2010/main" val="5374629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r>
              <a:rPr lang="en-US" dirty="0"/>
              <a:t>Define Repository, Pipe and Filter and MVC pattern with proper figure.</a:t>
            </a:r>
          </a:p>
        </p:txBody>
      </p:sp>
    </p:spTree>
    <p:extLst>
      <p:ext uri="{BB962C8B-B14F-4D97-AF65-F5344CB8AC3E}">
        <p14:creationId xmlns:p14="http://schemas.microsoft.com/office/powerpoint/2010/main" val="805663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 architecture</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Application architecture refers to the design and structure of an application, including its components, modules, and interactions. It is a crucial aspect of software development that determines the functionality, performance, scalability, and maintainability of an application.</a:t>
            </a:r>
          </a:p>
          <a:p>
            <a:pPr marL="0" indent="0" algn="just">
              <a:buNone/>
            </a:pPr>
            <a:r>
              <a:rPr lang="en-US" dirty="0"/>
              <a:t>There are several types of application architecture, including:</a:t>
            </a:r>
          </a:p>
          <a:p>
            <a:pPr algn="just"/>
            <a:r>
              <a:rPr lang="en-US" b="1" dirty="0"/>
              <a:t>Monolithic architecture: </a:t>
            </a:r>
            <a:r>
              <a:rPr lang="en-US" dirty="0"/>
              <a:t>In this architecture, the application is designed as a single unit, where all components are tightly coupled and interconnected. It is relatively simple to develop and deploy but lacks scalability and flexibility.</a:t>
            </a:r>
          </a:p>
          <a:p>
            <a:pPr algn="just"/>
            <a:r>
              <a:rPr lang="en-US" b="1" dirty="0"/>
              <a:t>Service-oriented architecture (SOA): </a:t>
            </a:r>
            <a:r>
              <a:rPr lang="en-US" dirty="0"/>
              <a:t>This architecture is based on the concept of dividing the application into smaller, independent services that can be developed and deployed separately. It provides better scalability, flexibility, and reusability of services.</a:t>
            </a:r>
          </a:p>
          <a:p>
            <a:pPr algn="just"/>
            <a:r>
              <a:rPr lang="en-US" b="1" dirty="0"/>
              <a:t>Microservices architecture: </a:t>
            </a:r>
            <a:r>
              <a:rPr lang="en-US" dirty="0"/>
              <a:t>This is an extension of SOA, where the application is broken down into even smaller services, each with a specific function. It provides high scalability, fault tolerance, and faster time-to-market.</a:t>
            </a:r>
          </a:p>
          <a:p>
            <a:pPr algn="just"/>
            <a:endParaRPr lang="en-US" dirty="0"/>
          </a:p>
        </p:txBody>
      </p:sp>
    </p:spTree>
    <p:extLst>
      <p:ext uri="{BB962C8B-B14F-4D97-AF65-F5344CB8AC3E}">
        <p14:creationId xmlns:p14="http://schemas.microsoft.com/office/powerpoint/2010/main" val="7405712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A3C7-E4E0-FF19-7F00-682E0C942D9A}"/>
              </a:ext>
            </a:extLst>
          </p:cNvPr>
          <p:cNvSpPr>
            <a:spLocks noGrp="1"/>
          </p:cNvSpPr>
          <p:nvPr>
            <p:ph type="title"/>
          </p:nvPr>
        </p:nvSpPr>
        <p:spPr/>
        <p:txBody>
          <a:bodyPr/>
          <a:lstStyle/>
          <a:p>
            <a:r>
              <a:rPr lang="en-US" b="1" dirty="0"/>
              <a:t>Application architecture</a:t>
            </a:r>
            <a:endParaRPr lang="en-US" dirty="0"/>
          </a:p>
        </p:txBody>
      </p:sp>
      <p:pic>
        <p:nvPicPr>
          <p:cNvPr id="1026" name="Picture 2" descr="SOA vs. Microservices | Integrate.io">
            <a:extLst>
              <a:ext uri="{FF2B5EF4-FFF2-40B4-BE49-F238E27FC236}">
                <a16:creationId xmlns:a16="http://schemas.microsoft.com/office/drawing/2014/main" id="{19A28361-93AE-6DE7-A178-D97EE80F472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20227" y="1882532"/>
            <a:ext cx="8213558" cy="4620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90595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4A77B-FA83-69B4-6AE5-3362262E9008}"/>
              </a:ext>
            </a:extLst>
          </p:cNvPr>
          <p:cNvSpPr>
            <a:spLocks noGrp="1"/>
          </p:cNvSpPr>
          <p:nvPr>
            <p:ph type="title"/>
          </p:nvPr>
        </p:nvSpPr>
        <p:spPr/>
        <p:txBody>
          <a:bodyPr/>
          <a:lstStyle/>
          <a:p>
            <a:r>
              <a:rPr lang="en-US" b="1" i="0" dirty="0">
                <a:solidFill>
                  <a:srgbClr val="000000"/>
                </a:solidFill>
                <a:effectLst/>
                <a:latin typeface="Public Sans"/>
              </a:rPr>
              <a:t>Event-driven architecture (EDA)</a:t>
            </a:r>
            <a:endParaRPr lang="en-US" b="1" dirty="0"/>
          </a:p>
        </p:txBody>
      </p:sp>
      <p:sp>
        <p:nvSpPr>
          <p:cNvPr id="3" name="Content Placeholder 2">
            <a:extLst>
              <a:ext uri="{FF2B5EF4-FFF2-40B4-BE49-F238E27FC236}">
                <a16:creationId xmlns:a16="http://schemas.microsoft.com/office/drawing/2014/main" id="{45723B9E-DDA5-B0D8-167A-458F96C63353}"/>
              </a:ext>
            </a:extLst>
          </p:cNvPr>
          <p:cNvSpPr>
            <a:spLocks noGrp="1"/>
          </p:cNvSpPr>
          <p:nvPr>
            <p:ph idx="1"/>
          </p:nvPr>
        </p:nvSpPr>
        <p:spPr/>
        <p:txBody>
          <a:bodyPr/>
          <a:lstStyle/>
          <a:p>
            <a:pPr algn="just"/>
            <a:r>
              <a:rPr lang="en-US" b="0" i="0" dirty="0">
                <a:solidFill>
                  <a:srgbClr val="000000"/>
                </a:solidFill>
                <a:effectLst/>
                <a:latin typeface="Public Sans"/>
              </a:rPr>
              <a:t>Event-driven architecture (EDA) is a software design pattern that enables an organization to detect “events” or important business moments (such as a transaction, site visit, shopping cart abandonment, </a:t>
            </a:r>
            <a:r>
              <a:rPr lang="en-US" b="0" i="0" dirty="0" err="1">
                <a:solidFill>
                  <a:srgbClr val="000000"/>
                </a:solidFill>
                <a:effectLst/>
                <a:latin typeface="Public Sans"/>
              </a:rPr>
              <a:t>etc</a:t>
            </a:r>
            <a:r>
              <a:rPr lang="en-US" b="0" i="0" dirty="0">
                <a:solidFill>
                  <a:srgbClr val="000000"/>
                </a:solidFill>
                <a:effectLst/>
                <a:latin typeface="Public Sans"/>
              </a:rPr>
              <a:t>) and act on them in real time or near real time. </a:t>
            </a:r>
          </a:p>
          <a:p>
            <a:pPr algn="just"/>
            <a:r>
              <a:rPr lang="en-US" b="0" i="0" dirty="0">
                <a:solidFill>
                  <a:srgbClr val="000000"/>
                </a:solidFill>
                <a:effectLst/>
                <a:latin typeface="Public Sans"/>
              </a:rPr>
              <a:t>This pattern replaces the traditional “request/response” architecture where services would have to wait for a reply before they could move onto the next task. The flow of event-driven architecture is run by events and it is designed to respond to them or carry out some action in response to an event.</a:t>
            </a:r>
            <a:endParaRPr lang="en-US" dirty="0"/>
          </a:p>
        </p:txBody>
      </p:sp>
    </p:spTree>
    <p:extLst>
      <p:ext uri="{BB962C8B-B14F-4D97-AF65-F5344CB8AC3E}">
        <p14:creationId xmlns:p14="http://schemas.microsoft.com/office/powerpoint/2010/main" val="17247059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0B8EA-D8EE-DD90-E36F-F6C1B13186DC}"/>
              </a:ext>
            </a:extLst>
          </p:cNvPr>
          <p:cNvSpPr>
            <a:spLocks noGrp="1"/>
          </p:cNvSpPr>
          <p:nvPr>
            <p:ph type="title"/>
          </p:nvPr>
        </p:nvSpPr>
        <p:spPr/>
        <p:txBody>
          <a:bodyPr/>
          <a:lstStyle/>
          <a:p>
            <a:r>
              <a:rPr lang="en-US" b="1" i="0" dirty="0">
                <a:solidFill>
                  <a:srgbClr val="000000"/>
                </a:solidFill>
                <a:effectLst/>
                <a:latin typeface="Public Sans"/>
              </a:rPr>
              <a:t>Event-driven architecture (EDA)</a:t>
            </a:r>
            <a:endParaRPr lang="en-US" b="1" dirty="0"/>
          </a:p>
        </p:txBody>
      </p:sp>
      <p:pic>
        <p:nvPicPr>
          <p:cNvPr id="5" name="Content Placeholder 4">
            <a:extLst>
              <a:ext uri="{FF2B5EF4-FFF2-40B4-BE49-F238E27FC236}">
                <a16:creationId xmlns:a16="http://schemas.microsoft.com/office/drawing/2014/main" id="{2BAFED31-B15B-C92E-9193-181C07FE6776}"/>
              </a:ext>
            </a:extLst>
          </p:cNvPr>
          <p:cNvPicPr>
            <a:picLocks noGrp="1" noChangeAspect="1"/>
          </p:cNvPicPr>
          <p:nvPr>
            <p:ph idx="1"/>
          </p:nvPr>
        </p:nvPicPr>
        <p:blipFill>
          <a:blip r:embed="rId2"/>
          <a:stretch>
            <a:fillRect/>
          </a:stretch>
        </p:blipFill>
        <p:spPr>
          <a:xfrm>
            <a:off x="1345208" y="1825625"/>
            <a:ext cx="9501584" cy="4351338"/>
          </a:xfrm>
        </p:spPr>
      </p:pic>
    </p:spTree>
    <p:extLst>
      <p:ext uri="{BB962C8B-B14F-4D97-AF65-F5344CB8AC3E}">
        <p14:creationId xmlns:p14="http://schemas.microsoft.com/office/powerpoint/2010/main" val="9744439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Information System</a:t>
            </a:r>
          </a:p>
        </p:txBody>
      </p:sp>
      <p:sp>
        <p:nvSpPr>
          <p:cNvPr id="3" name="Content Placeholder 2"/>
          <p:cNvSpPr>
            <a:spLocks noGrp="1"/>
          </p:cNvSpPr>
          <p:nvPr>
            <p:ph idx="1"/>
          </p:nvPr>
        </p:nvSpPr>
        <p:spPr/>
        <p:txBody>
          <a:bodyPr>
            <a:normAutofit/>
          </a:bodyPr>
          <a:lstStyle/>
          <a:p>
            <a:pPr algn="just"/>
            <a:r>
              <a:rPr lang="en-US" dirty="0"/>
              <a:t>An information system (IS) is a set of interconnected components that collect, store, process, and distribute data or information to support decision-making, coordination, and control in an organization.</a:t>
            </a:r>
          </a:p>
          <a:p>
            <a:pPr algn="just"/>
            <a:r>
              <a:rPr lang="en-US" dirty="0"/>
              <a:t>IS can be used in various areas of business such as accounting, finance, marketing, production, and human resources. It can also be used in different types of organizations such as businesses, non-profits, and governments.</a:t>
            </a:r>
          </a:p>
          <a:p>
            <a:pPr algn="just"/>
            <a:r>
              <a:rPr lang="en-US" dirty="0"/>
              <a:t>IS are critical to the success of many organizations as they enable the efficient processing and sharing of information across departments, functions, and geographic locations. They can also help organizations to improve their decision-making, increase their productivity, and gain a competitive advantage.</a:t>
            </a:r>
          </a:p>
          <a:p>
            <a:pPr algn="just"/>
            <a:endParaRPr lang="en-US" dirty="0"/>
          </a:p>
        </p:txBody>
      </p:sp>
    </p:spTree>
    <p:extLst>
      <p:ext uri="{BB962C8B-B14F-4D97-AF65-F5344CB8AC3E}">
        <p14:creationId xmlns:p14="http://schemas.microsoft.com/office/powerpoint/2010/main" val="31374100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Information System</a:t>
            </a:r>
          </a:p>
        </p:txBody>
      </p:sp>
      <p:pic>
        <p:nvPicPr>
          <p:cNvPr id="1026" name="Picture 2" descr="Types of Information System: MIS, TPS, DSS, Pyramid Diagra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83472" y="1558712"/>
            <a:ext cx="8061047" cy="4956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3342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Information System </a:t>
            </a:r>
          </a:p>
        </p:txBody>
      </p:sp>
      <p:sp>
        <p:nvSpPr>
          <p:cNvPr id="3" name="Content Placeholder 2"/>
          <p:cNvSpPr>
            <a:spLocks noGrp="1"/>
          </p:cNvSpPr>
          <p:nvPr>
            <p:ph idx="1"/>
          </p:nvPr>
        </p:nvSpPr>
        <p:spPr/>
        <p:txBody>
          <a:bodyPr>
            <a:normAutofit/>
          </a:bodyPr>
          <a:lstStyle/>
          <a:p>
            <a:pPr algn="just"/>
            <a:r>
              <a:rPr lang="en-US" b="1" dirty="0"/>
              <a:t>Transaction Processing System (TPS): </a:t>
            </a:r>
            <a:r>
              <a:rPr lang="en-US" dirty="0"/>
              <a:t>These systems are used to capture and process data from daily transactions such as sales, orders, and payments. They are often used by businesses that deal with large volumes of transactions such as retail stores and banks.</a:t>
            </a:r>
          </a:p>
          <a:p>
            <a:pPr algn="just"/>
            <a:r>
              <a:rPr lang="en-US" b="1" dirty="0"/>
              <a:t>Management Information System (MIS): </a:t>
            </a:r>
            <a:r>
              <a:rPr lang="en-US" dirty="0"/>
              <a:t>These systems are used to generate reports that provide managers with information about the organization's performance, such as sales, inventory levels, and financials. They are often used by middle-level managers to make operational decisions.</a:t>
            </a:r>
          </a:p>
          <a:p>
            <a:pPr algn="just"/>
            <a:r>
              <a:rPr lang="en-US" b="1" dirty="0"/>
              <a:t>Decision Support System (DSS): </a:t>
            </a:r>
            <a:r>
              <a:rPr lang="en-US" dirty="0"/>
              <a:t>These systems are designed to help managers make strategic decisions by analyzing data and providing recommendations. They often use advanced analytical tools such as data mining and forecasting.</a:t>
            </a:r>
          </a:p>
        </p:txBody>
      </p:sp>
    </p:spTree>
    <p:extLst>
      <p:ext uri="{BB962C8B-B14F-4D97-AF65-F5344CB8AC3E}">
        <p14:creationId xmlns:p14="http://schemas.microsoft.com/office/powerpoint/2010/main" val="22174459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2B47-90FA-CFDB-69FD-A321456BD839}"/>
              </a:ext>
            </a:extLst>
          </p:cNvPr>
          <p:cNvSpPr>
            <a:spLocks noGrp="1"/>
          </p:cNvSpPr>
          <p:nvPr>
            <p:ph type="title"/>
          </p:nvPr>
        </p:nvSpPr>
        <p:spPr/>
        <p:txBody>
          <a:bodyPr/>
          <a:lstStyle/>
          <a:p>
            <a:r>
              <a:rPr lang="en-US" b="1" dirty="0"/>
              <a:t>Question </a:t>
            </a:r>
          </a:p>
        </p:txBody>
      </p:sp>
      <p:sp>
        <p:nvSpPr>
          <p:cNvPr id="3" name="Content Placeholder 2">
            <a:extLst>
              <a:ext uri="{FF2B5EF4-FFF2-40B4-BE49-F238E27FC236}">
                <a16:creationId xmlns:a16="http://schemas.microsoft.com/office/drawing/2014/main" id="{BD3E8348-2251-1E1C-E33E-7761C8E21AA4}"/>
              </a:ext>
            </a:extLst>
          </p:cNvPr>
          <p:cNvSpPr>
            <a:spLocks noGrp="1"/>
          </p:cNvSpPr>
          <p:nvPr>
            <p:ph idx="1"/>
          </p:nvPr>
        </p:nvSpPr>
        <p:spPr/>
        <p:txBody>
          <a:bodyPr/>
          <a:lstStyle/>
          <a:p>
            <a:pPr marL="0" indent="0">
              <a:buNone/>
            </a:pPr>
            <a:r>
              <a:rPr lang="en-US" dirty="0"/>
              <a:t>Write short notes on:</a:t>
            </a:r>
          </a:p>
          <a:p>
            <a:r>
              <a:rPr lang="en-US" dirty="0"/>
              <a:t>Monolithic architecture</a:t>
            </a:r>
          </a:p>
          <a:p>
            <a:r>
              <a:rPr lang="en-US" dirty="0"/>
              <a:t>SOA architecture</a:t>
            </a:r>
          </a:p>
          <a:p>
            <a:r>
              <a:rPr lang="en-US" dirty="0"/>
              <a:t>Microservices architecture</a:t>
            </a:r>
          </a:p>
          <a:p>
            <a:r>
              <a:rPr lang="en-US" dirty="0"/>
              <a:t>Event Driven architecture</a:t>
            </a:r>
          </a:p>
          <a:p>
            <a:endParaRPr lang="en-US" dirty="0"/>
          </a:p>
          <a:p>
            <a:endParaRPr lang="en-US" dirty="0"/>
          </a:p>
        </p:txBody>
      </p:sp>
    </p:spTree>
    <p:extLst>
      <p:ext uri="{BB962C8B-B14F-4D97-AF65-F5344CB8AC3E}">
        <p14:creationId xmlns:p14="http://schemas.microsoft.com/office/powerpoint/2010/main" val="40864439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E061C-DC39-4F16-BA73-3D452D51FA47}"/>
              </a:ext>
            </a:extLst>
          </p:cNvPr>
          <p:cNvSpPr>
            <a:spLocks noGrp="1"/>
          </p:cNvSpPr>
          <p:nvPr>
            <p:ph type="title"/>
          </p:nvPr>
        </p:nvSpPr>
        <p:spPr/>
        <p:txBody>
          <a:bodyPr/>
          <a:lstStyle/>
          <a:p>
            <a:r>
              <a:rPr lang="en-US" dirty="0"/>
              <a:t>End of </a:t>
            </a:r>
            <a:r>
              <a:rPr lang="en-US"/>
              <a:t>unit 6</a:t>
            </a:r>
            <a:endParaRPr lang="en-US" dirty="0"/>
          </a:p>
        </p:txBody>
      </p:sp>
      <p:sp>
        <p:nvSpPr>
          <p:cNvPr id="2" name="Slide Number Placeholder 1">
            <a:extLst>
              <a:ext uri="{FF2B5EF4-FFF2-40B4-BE49-F238E27FC236}">
                <a16:creationId xmlns:a16="http://schemas.microsoft.com/office/drawing/2014/main" id="{60992EE2-28BE-4C3F-84F4-906D77A2E9EC}"/>
              </a:ext>
            </a:extLst>
          </p:cNvPr>
          <p:cNvSpPr>
            <a:spLocks noGrp="1"/>
          </p:cNvSpPr>
          <p:nvPr>
            <p:ph type="sldNum" sz="quarter" idx="12"/>
          </p:nvPr>
        </p:nvSpPr>
        <p:spPr/>
        <p:txBody>
          <a:bodyPr/>
          <a:lstStyle/>
          <a:p>
            <a:fld id="{255C45AA-988C-4610-8E25-9C545FF2A435}" type="slidenum">
              <a:rPr lang="en-US" smtClean="0"/>
              <a:t>58</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794</TotalTime>
  <Words>6599</Words>
  <Application>Microsoft Office PowerPoint</Application>
  <PresentationFormat>Widescreen</PresentationFormat>
  <Paragraphs>483</Paragraphs>
  <Slides>58</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Arial</vt:lpstr>
      <vt:lpstr>Bahnschrift</vt:lpstr>
      <vt:lpstr>Calibri</vt:lpstr>
      <vt:lpstr>Public Sans</vt:lpstr>
      <vt:lpstr>Rockwell</vt:lpstr>
      <vt:lpstr>Rockwell Condensed</vt:lpstr>
      <vt:lpstr>Söhne</vt:lpstr>
      <vt:lpstr>Times New Roman</vt:lpstr>
      <vt:lpstr>Wingdings</vt:lpstr>
      <vt:lpstr>Wood Type</vt:lpstr>
      <vt:lpstr>Unit 6  System Architecture &amp; Design </vt:lpstr>
      <vt:lpstr>Syllabus</vt:lpstr>
      <vt:lpstr>Architectural Design</vt:lpstr>
      <vt:lpstr>Who does it?</vt:lpstr>
      <vt:lpstr>Example : Architecture of Packing Robot System</vt:lpstr>
      <vt:lpstr>Description:</vt:lpstr>
      <vt:lpstr>Description</vt:lpstr>
      <vt:lpstr>Advantages of Architectural Design</vt:lpstr>
      <vt:lpstr>Architectural Design Decisions</vt:lpstr>
      <vt:lpstr>Some common architecture design decisions include:</vt:lpstr>
      <vt:lpstr>Some common architecture design decisions include:</vt:lpstr>
      <vt:lpstr>Questions which may arise during Architectural design</vt:lpstr>
      <vt:lpstr>Architectural Views</vt:lpstr>
      <vt:lpstr>4+1 Architectural View Model</vt:lpstr>
      <vt:lpstr>4+1 Architectural View Model</vt:lpstr>
      <vt:lpstr>4+1 Architectural View Model</vt:lpstr>
      <vt:lpstr>4+1 Architectural View Model</vt:lpstr>
      <vt:lpstr>Questions:</vt:lpstr>
      <vt:lpstr>Modular Decomposition:</vt:lpstr>
      <vt:lpstr>Level of Decomposition:</vt:lpstr>
      <vt:lpstr>Example of Functional Decomposition:</vt:lpstr>
      <vt:lpstr>Cohesion and Coupling</vt:lpstr>
      <vt:lpstr>Cohesion</vt:lpstr>
      <vt:lpstr>Coupling</vt:lpstr>
      <vt:lpstr>Example of Cohesion and Coupling:</vt:lpstr>
      <vt:lpstr>Example of cohesion and coupling</vt:lpstr>
      <vt:lpstr>Question:</vt:lpstr>
      <vt:lpstr>Architectural Pattern/Style:</vt:lpstr>
      <vt:lpstr>Architectural Styles includes</vt:lpstr>
      <vt:lpstr>Client Server Architecture</vt:lpstr>
      <vt:lpstr>Benefits of client server architecture</vt:lpstr>
      <vt:lpstr>Client Server Architecture for a film library</vt:lpstr>
      <vt:lpstr>Client Server pattern</vt:lpstr>
      <vt:lpstr>Layered Architecture</vt:lpstr>
      <vt:lpstr>Benefits of Layered Architecture</vt:lpstr>
      <vt:lpstr>Layered Architecture</vt:lpstr>
      <vt:lpstr>Layered Architectural Pattern</vt:lpstr>
      <vt:lpstr>Repository Architecture</vt:lpstr>
      <vt:lpstr>Repository Architecture</vt:lpstr>
      <vt:lpstr>Repository Architecture</vt:lpstr>
      <vt:lpstr>Pipe and Filter Architecture</vt:lpstr>
      <vt:lpstr>Pipe and Filter Architecture</vt:lpstr>
      <vt:lpstr>Pipe and Filter Architecture</vt:lpstr>
      <vt:lpstr>Pipe and Filter Architecture</vt:lpstr>
      <vt:lpstr>Question</vt:lpstr>
      <vt:lpstr>Model-View-Controller (MVC) Pattern</vt:lpstr>
      <vt:lpstr>Model-View-Controller (MVC) Pattern</vt:lpstr>
      <vt:lpstr>Model-View-Controller (MVC) Pattern</vt:lpstr>
      <vt:lpstr>Question:</vt:lpstr>
      <vt:lpstr>Application architecture</vt:lpstr>
      <vt:lpstr>Application architecture</vt:lpstr>
      <vt:lpstr>Event-driven architecture (EDA)</vt:lpstr>
      <vt:lpstr>Event-driven architecture (EDA)</vt:lpstr>
      <vt:lpstr>Information System</vt:lpstr>
      <vt:lpstr>Types of Information System</vt:lpstr>
      <vt:lpstr>Types of Information System </vt:lpstr>
      <vt:lpstr>Question </vt:lpstr>
      <vt:lpstr>End of unit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Yachu</cp:lastModifiedBy>
  <cp:revision>106</cp:revision>
  <dcterms:created xsi:type="dcterms:W3CDTF">2026-06-22T07:06:56Z</dcterms:created>
  <dcterms:modified xsi:type="dcterms:W3CDTF">2026-08-12T03:48:03Z</dcterms:modified>
</cp:coreProperties>
</file>